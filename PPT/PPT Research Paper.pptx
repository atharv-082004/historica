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handoutMasterIdLst>
    <p:handoutMasterId r:id="rId11"/>
  </p:handoutMasterIdLst>
  <p:sldIdLst>
    <p:sldId id="256" r:id="rId2"/>
    <p:sldId id="257" r:id="rId3"/>
    <p:sldId id="263" r:id="rId4"/>
    <p:sldId id="258" r:id="rId5"/>
    <p:sldId id="262" r:id="rId6"/>
    <p:sldId id="259" r:id="rId7"/>
    <p:sldId id="260" r:id="rId8"/>
    <p:sldId id="261" r:id="rId9"/>
  </p:sldIdLst>
  <p:sldSz cx="18288000" cy="10287000"/>
  <p:notesSz cx="6858000" cy="9144000"/>
  <p:embeddedFontLst>
    <p:embeddedFont>
      <p:font typeface="Berkshire Swash" panose="02000505000000020003" pitchFamily="2" charset="0"/>
      <p:regular r:id="rId12"/>
    </p:embeddedFont>
    <p:embeddedFont>
      <p:font typeface="Poppins" pitchFamily="2" charset="77"/>
      <p:regular r:id="rId13"/>
      <p:bold r:id="rId14"/>
      <p:italic r:id="rId15"/>
      <p:boldItalic r:id="rId16"/>
    </p:embeddedFont>
    <p:embeddedFont>
      <p:font typeface="Poppins Bold" pitchFamily="2" charset="77"/>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D49A"/>
    <a:srgbClr val="9050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03" autoAdjust="0"/>
    <p:restoredTop sz="94571" autoAdjust="0"/>
  </p:normalViewPr>
  <p:slideViewPr>
    <p:cSldViewPr>
      <p:cViewPr varScale="1">
        <p:scale>
          <a:sx n="76" d="100"/>
          <a:sy n="76" d="100"/>
        </p:scale>
        <p:origin x="312"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36BE6FA-0728-C85D-32B2-6F0B80C78D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ICIAGC-2026
International conference on Interdisciplinary Approach on Global Challenges 
Organized by 
Patel Group of Institutions, Indore</a:t>
            </a:r>
          </a:p>
        </p:txBody>
      </p:sp>
      <p:sp>
        <p:nvSpPr>
          <p:cNvPr id="3" name="Date Placeholder 2">
            <a:extLst>
              <a:ext uri="{FF2B5EF4-FFF2-40B4-BE49-F238E27FC236}">
                <a16:creationId xmlns:a16="http://schemas.microsoft.com/office/drawing/2014/main" id="{9D7C5598-BB41-4F5E-1571-7EE8610E443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427F2D-0FEA-1D46-9196-A7273EF1A5E2}" type="datetimeFigureOut">
              <a:rPr lang="en-US" smtClean="0"/>
              <a:t>5/6/26</a:t>
            </a:fld>
            <a:endParaRPr lang="en-US"/>
          </a:p>
        </p:txBody>
      </p:sp>
      <p:sp>
        <p:nvSpPr>
          <p:cNvPr id="4" name="Footer Placeholder 3">
            <a:extLst>
              <a:ext uri="{FF2B5EF4-FFF2-40B4-BE49-F238E27FC236}">
                <a16:creationId xmlns:a16="http://schemas.microsoft.com/office/drawing/2014/main" id="{D1E7F325-B3A6-6915-57C4-6775A947DF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90322E9-D646-A5E9-855A-38FE0DD7E90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839121C-F9F9-EE4E-A40E-F62312616F3E}" type="slidenum">
              <a:rPr lang="en-US" smtClean="0"/>
              <a:t>‹#›</a:t>
            </a:fld>
            <a:endParaRPr lang="en-US"/>
          </a:p>
        </p:txBody>
      </p:sp>
    </p:spTree>
    <p:extLst>
      <p:ext uri="{BB962C8B-B14F-4D97-AF65-F5344CB8AC3E}">
        <p14:creationId xmlns:p14="http://schemas.microsoft.com/office/powerpoint/2010/main" val="2368743837"/>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ICIAGC-2026
International conference on Interdisciplinary Approach on Global Challenges 
Organized by 
Patel Group of Institutions, Indore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33F1E-8421-E347-8CE5-2A689E5CEEE8}" type="datetimeFigureOut">
              <a:rPr lang="en-US" smtClean="0"/>
              <a:t>5/6/26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E619B5-B0A7-F442-8442-B74289507379}" type="slidenum">
              <a:rPr lang="en-US" smtClean="0"/>
              <a:t>‹#›</a:t>
            </a:fld>
            <a:endParaRPr lang="en-US"/>
          </a:p>
        </p:txBody>
      </p:sp>
    </p:spTree>
    <p:extLst>
      <p:ext uri="{BB962C8B-B14F-4D97-AF65-F5344CB8AC3E}">
        <p14:creationId xmlns:p14="http://schemas.microsoft.com/office/powerpoint/2010/main" val="891150120"/>
      </p:ext>
    </p:extLst>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945118">
                <a:alpha val="100000"/>
              </a:srgbClr>
            </a:gs>
            <a:gs pos="100000">
              <a:srgbClr val="634A35">
                <a:alpha val="100000"/>
              </a:srgbClr>
            </a:gs>
          </a:gsLst>
          <a:lin ang="2700000"/>
        </a:gradFill>
        <a:effectLst/>
      </p:bgPr>
    </p:bg>
    <p:spTree>
      <p:nvGrpSpPr>
        <p:cNvPr id="1" name=""/>
        <p:cNvGrpSpPr/>
        <p:nvPr/>
      </p:nvGrpSpPr>
      <p:grpSpPr>
        <a:xfrm>
          <a:off x="0" y="0"/>
          <a:ext cx="0" cy="0"/>
          <a:chOff x="0" y="0"/>
          <a:chExt cx="0" cy="0"/>
        </a:xfrm>
      </p:grpSpPr>
      <p:sp>
        <p:nvSpPr>
          <p:cNvPr id="3" name="Freeform 3"/>
          <p:cNvSpPr/>
          <p:nvPr/>
        </p:nvSpPr>
        <p:spPr>
          <a:xfrm>
            <a:off x="-8467" y="1782733"/>
            <a:ext cx="18288000" cy="8550912"/>
          </a:xfrm>
          <a:custGeom>
            <a:avLst/>
            <a:gdLst/>
            <a:ahLst/>
            <a:cxnLst/>
            <a:rect l="l" t="t" r="r" b="b"/>
            <a:pathLst>
              <a:path w="17246905" h="8688128">
                <a:moveTo>
                  <a:pt x="0" y="0"/>
                </a:moveTo>
                <a:lnTo>
                  <a:pt x="17246905" y="0"/>
                </a:lnTo>
                <a:lnTo>
                  <a:pt x="17246905" y="8688128"/>
                </a:lnTo>
                <a:lnTo>
                  <a:pt x="0" y="8688128"/>
                </a:lnTo>
                <a:lnTo>
                  <a:pt x="0" y="0"/>
                </a:lnTo>
                <a:close/>
              </a:path>
            </a:pathLst>
          </a:custGeom>
          <a:blipFill>
            <a:blip r:embed="rId2"/>
            <a:stretch>
              <a:fillRect/>
            </a:stretch>
          </a:blipFill>
        </p:spPr>
        <p:txBody>
          <a:bodyPr/>
          <a:lstStyle/>
          <a:p>
            <a:endParaRPr lang="en-US" dirty="0"/>
          </a:p>
        </p:txBody>
      </p:sp>
      <p:sp>
        <p:nvSpPr>
          <p:cNvPr id="6" name="TextBox 6"/>
          <p:cNvSpPr txBox="1"/>
          <p:nvPr/>
        </p:nvSpPr>
        <p:spPr>
          <a:xfrm>
            <a:off x="11903393" y="5615653"/>
            <a:ext cx="5317807" cy="2989912"/>
          </a:xfrm>
          <a:prstGeom prst="rect">
            <a:avLst/>
          </a:prstGeom>
        </p:spPr>
        <p:txBody>
          <a:bodyPr lIns="50800" tIns="50800" rIns="50800" bIns="50800" rtlCol="0" anchor="ctr"/>
          <a:lstStyle/>
          <a:p>
            <a:pPr marL="0" lvl="0" indent="0" algn="ctr">
              <a:lnSpc>
                <a:spcPts val="2659"/>
              </a:lnSpc>
              <a:spcBef>
                <a:spcPct val="0"/>
              </a:spcBef>
            </a:pPr>
            <a:endParaRPr>
              <a:solidFill>
                <a:schemeClr val="bg1"/>
              </a:solidFill>
            </a:endParaRPr>
          </a:p>
        </p:txBody>
      </p:sp>
      <p:sp>
        <p:nvSpPr>
          <p:cNvPr id="7" name="TextBox 7"/>
          <p:cNvSpPr txBox="1"/>
          <p:nvPr/>
        </p:nvSpPr>
        <p:spPr>
          <a:xfrm>
            <a:off x="1821352" y="1294639"/>
            <a:ext cx="14973094" cy="3619404"/>
          </a:xfrm>
          <a:prstGeom prst="rect">
            <a:avLst/>
          </a:prstGeom>
        </p:spPr>
        <p:txBody>
          <a:bodyPr lIns="0" tIns="0" rIns="0" bIns="0" rtlCol="0" anchor="t">
            <a:spAutoFit/>
          </a:bodyPr>
          <a:lstStyle/>
          <a:p>
            <a:pPr marL="0" lvl="0" indent="0" algn="ctr">
              <a:lnSpc>
                <a:spcPts val="29733"/>
              </a:lnSpc>
            </a:pPr>
            <a:r>
              <a:rPr lang="en-US" sz="21238" dirty="0" err="1">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Historica</a:t>
            </a:r>
            <a:endParaRPr lang="en-US" sz="21238" dirty="0">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endParaRPr>
          </a:p>
        </p:txBody>
      </p:sp>
      <p:sp>
        <p:nvSpPr>
          <p:cNvPr id="8" name="Freeform 8"/>
          <p:cNvSpPr/>
          <p:nvPr/>
        </p:nvSpPr>
        <p:spPr>
          <a:xfrm>
            <a:off x="336265" y="1108845"/>
            <a:ext cx="3160225" cy="1906731"/>
          </a:xfrm>
          <a:custGeom>
            <a:avLst/>
            <a:gdLst/>
            <a:ahLst/>
            <a:cxnLst/>
            <a:rect l="l" t="t" r="r" b="b"/>
            <a:pathLst>
              <a:path w="4243959" h="2214721">
                <a:moveTo>
                  <a:pt x="0" y="0"/>
                </a:moveTo>
                <a:lnTo>
                  <a:pt x="4243958" y="0"/>
                </a:lnTo>
                <a:lnTo>
                  <a:pt x="4243958" y="2214721"/>
                </a:lnTo>
                <a:lnTo>
                  <a:pt x="0" y="221472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a:off x="15656987" y="0"/>
            <a:ext cx="2778791" cy="1450119"/>
          </a:xfrm>
          <a:custGeom>
            <a:avLst/>
            <a:gdLst/>
            <a:ahLst/>
            <a:cxnLst/>
            <a:rect l="l" t="t" r="r" b="b"/>
            <a:pathLst>
              <a:path w="2778791" h="1450119">
                <a:moveTo>
                  <a:pt x="0" y="0"/>
                </a:moveTo>
                <a:lnTo>
                  <a:pt x="2778791" y="0"/>
                </a:lnTo>
                <a:lnTo>
                  <a:pt x="2778791" y="1450119"/>
                </a:lnTo>
                <a:lnTo>
                  <a:pt x="0" y="145011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14035574" y="3802573"/>
            <a:ext cx="4243959" cy="2214721"/>
          </a:xfrm>
          <a:custGeom>
            <a:avLst/>
            <a:gdLst/>
            <a:ahLst/>
            <a:cxnLst/>
            <a:rect l="l" t="t" r="r" b="b"/>
            <a:pathLst>
              <a:path w="4243959" h="2214721">
                <a:moveTo>
                  <a:pt x="0" y="0"/>
                </a:moveTo>
                <a:lnTo>
                  <a:pt x="4243958" y="0"/>
                </a:lnTo>
                <a:lnTo>
                  <a:pt x="4243958" y="2214720"/>
                </a:lnTo>
                <a:lnTo>
                  <a:pt x="0" y="221472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3872423" y="962025"/>
            <a:ext cx="6151066" cy="1100186"/>
          </a:xfrm>
          <a:prstGeom prst="rect">
            <a:avLst/>
          </a:prstGeom>
        </p:spPr>
        <p:txBody>
          <a:bodyPr lIns="0" tIns="0" rIns="0" bIns="0" rtlCol="0" anchor="t">
            <a:spAutoFit/>
          </a:bodyPr>
          <a:lstStyle/>
          <a:p>
            <a:pPr marL="0" lvl="0" indent="0" algn="l">
              <a:lnSpc>
                <a:spcPts val="4425"/>
              </a:lnSpc>
            </a:pPr>
            <a:r>
              <a:rPr lang="en-US" sz="3161" dirty="0">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AR/VR Powered Immersive Learning</a:t>
            </a:r>
          </a:p>
        </p:txBody>
      </p:sp>
      <p:sp>
        <p:nvSpPr>
          <p:cNvPr id="2" name="TextBox 1">
            <a:extLst>
              <a:ext uri="{FF2B5EF4-FFF2-40B4-BE49-F238E27FC236}">
                <a16:creationId xmlns:a16="http://schemas.microsoft.com/office/drawing/2014/main" id="{64153EA0-0C6A-A3F0-5C5F-ACA58ADC8FE3}"/>
              </a:ext>
            </a:extLst>
          </p:cNvPr>
          <p:cNvSpPr txBox="1"/>
          <p:nvPr/>
        </p:nvSpPr>
        <p:spPr>
          <a:xfrm>
            <a:off x="13106400" y="6017294"/>
            <a:ext cx="3688046" cy="2677656"/>
          </a:xfrm>
          <a:prstGeom prst="rect">
            <a:avLst/>
          </a:prstGeom>
          <a:noFill/>
        </p:spPr>
        <p:txBody>
          <a:bodyPr wrap="square" rtlCol="0">
            <a:spAutoFit/>
          </a:bodyPr>
          <a:lstStyle/>
          <a:p>
            <a:r>
              <a:rPr lang="en-US" sz="2800" dirty="0">
                <a:solidFill>
                  <a:schemeClr val="bg1"/>
                </a:solidFill>
              </a:rPr>
              <a:t>Presented By: </a:t>
            </a:r>
            <a:br>
              <a:rPr lang="en-US" sz="2800" dirty="0">
                <a:solidFill>
                  <a:schemeClr val="bg1"/>
                </a:solidFill>
              </a:rPr>
            </a:br>
            <a:r>
              <a:rPr lang="en-US" sz="2800" dirty="0">
                <a:solidFill>
                  <a:schemeClr val="bg1"/>
                </a:solidFill>
              </a:rPr>
              <a:t>Monika Choudhary </a:t>
            </a:r>
          </a:p>
          <a:p>
            <a:r>
              <a:rPr lang="en-US" sz="2800" dirty="0">
                <a:solidFill>
                  <a:schemeClr val="bg1"/>
                </a:solidFill>
              </a:rPr>
              <a:t>Atharv Sharma</a:t>
            </a:r>
          </a:p>
          <a:p>
            <a:r>
              <a:rPr lang="en-US" sz="2800" dirty="0">
                <a:solidFill>
                  <a:schemeClr val="bg1"/>
                </a:solidFill>
              </a:rPr>
              <a:t>Khushi Agrawal</a:t>
            </a:r>
          </a:p>
          <a:p>
            <a:r>
              <a:rPr lang="en-US" sz="2800" dirty="0">
                <a:solidFill>
                  <a:schemeClr val="bg1"/>
                </a:solidFill>
              </a:rPr>
              <a:t>Abhishek Rathore</a:t>
            </a:r>
            <a:br>
              <a:rPr lang="en-US" sz="2800" dirty="0">
                <a:solidFill>
                  <a:schemeClr val="bg1"/>
                </a:solidFill>
              </a:rPr>
            </a:br>
            <a:r>
              <a:rPr lang="en-US" sz="2800" dirty="0">
                <a:solidFill>
                  <a:schemeClr val="bg1"/>
                </a:solidFill>
              </a:rPr>
              <a:t>Jatin Rao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945118">
                <a:alpha val="100000"/>
              </a:srgbClr>
            </a:gs>
            <a:gs pos="100000">
              <a:srgbClr val="634A35">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2195732" y="2869698"/>
            <a:ext cx="13896536" cy="3024038"/>
          </a:xfrm>
          <a:prstGeom prst="rect">
            <a:avLst/>
          </a:prstGeom>
        </p:spPr>
        <p:txBody>
          <a:bodyPr lIns="0" tIns="0" rIns="0" bIns="0" rtlCol="0" anchor="t">
            <a:spAutoFit/>
          </a:bodyPr>
          <a:lstStyle/>
          <a:p>
            <a:pPr marL="0" lvl="0" indent="0" algn="just">
              <a:lnSpc>
                <a:spcPts val="3423"/>
              </a:lnSpc>
            </a:pPr>
            <a:r>
              <a:rPr lang="en-US" sz="2695">
                <a:solidFill>
                  <a:srgbClr val="FFDAA0"/>
                </a:solidFill>
                <a:latin typeface="Poppins"/>
                <a:ea typeface="Poppins"/>
                <a:cs typeface="Poppins"/>
                <a:sym typeface="Poppins"/>
              </a:rPr>
              <a:t>Historica is a web-based AR/VR-powered immersive learning platform designed to transform the way users experience history. The platform provides interactive 3D reconstructions of historical landmarks, civilizations, and events, allowing users to explore ancient environments through modern digital technologies.</a:t>
            </a:r>
          </a:p>
          <a:p>
            <a:pPr marL="0" lvl="0" indent="0" algn="just">
              <a:lnSpc>
                <a:spcPts val="3423"/>
              </a:lnSpc>
            </a:pPr>
            <a:r>
              <a:rPr lang="en-US" sz="2695">
                <a:solidFill>
                  <a:srgbClr val="FFDAA0"/>
                </a:solidFill>
                <a:latin typeface="Poppins"/>
                <a:ea typeface="Poppins"/>
                <a:cs typeface="Poppins"/>
                <a:sym typeface="Poppins"/>
              </a:rPr>
              <a:t>The system combines interactive 3D visualization, browser-based Augmented Reality, AI-powered historical simulations, dynamic storytelling, and intelligent virtual avatars to bring history to life.</a:t>
            </a:r>
          </a:p>
        </p:txBody>
      </p:sp>
      <p:sp>
        <p:nvSpPr>
          <p:cNvPr id="3" name="Freeform 3"/>
          <p:cNvSpPr/>
          <p:nvPr/>
        </p:nvSpPr>
        <p:spPr>
          <a:xfrm>
            <a:off x="6096000" y="5676899"/>
            <a:ext cx="6248400" cy="4438655"/>
          </a:xfrm>
          <a:custGeom>
            <a:avLst/>
            <a:gdLst/>
            <a:ahLst/>
            <a:cxnLst/>
            <a:rect l="l" t="t" r="r" b="b"/>
            <a:pathLst>
              <a:path w="10080320" h="9551103">
                <a:moveTo>
                  <a:pt x="0" y="0"/>
                </a:moveTo>
                <a:lnTo>
                  <a:pt x="10080320" y="0"/>
                </a:lnTo>
                <a:lnTo>
                  <a:pt x="10080320" y="9551103"/>
                </a:lnTo>
                <a:lnTo>
                  <a:pt x="0" y="9551103"/>
                </a:lnTo>
                <a:lnTo>
                  <a:pt x="0" y="0"/>
                </a:lnTo>
                <a:close/>
              </a:path>
            </a:pathLst>
          </a:custGeom>
          <a:blipFill>
            <a:blip r:embed="rId2"/>
            <a:stretch>
              <a:fillRect/>
            </a:stretch>
          </a:blipFill>
        </p:spPr>
      </p:sp>
      <p:sp>
        <p:nvSpPr>
          <p:cNvPr id="4" name="Freeform 4"/>
          <p:cNvSpPr/>
          <p:nvPr/>
        </p:nvSpPr>
        <p:spPr>
          <a:xfrm>
            <a:off x="0" y="8863354"/>
            <a:ext cx="2778285" cy="1252200"/>
          </a:xfrm>
          <a:custGeom>
            <a:avLst/>
            <a:gdLst/>
            <a:ahLst/>
            <a:cxnLst/>
            <a:rect l="l" t="t" r="r" b="b"/>
            <a:pathLst>
              <a:path w="2778285" h="1252200">
                <a:moveTo>
                  <a:pt x="0" y="0"/>
                </a:moveTo>
                <a:lnTo>
                  <a:pt x="2778285" y="0"/>
                </a:lnTo>
                <a:lnTo>
                  <a:pt x="2778285" y="1252200"/>
                </a:lnTo>
                <a:lnTo>
                  <a:pt x="0" y="12522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471789" y="7553106"/>
            <a:ext cx="2807744" cy="2562448"/>
          </a:xfrm>
          <a:custGeom>
            <a:avLst/>
            <a:gdLst/>
            <a:ahLst/>
            <a:cxnLst/>
            <a:rect l="l" t="t" r="r" b="b"/>
            <a:pathLst>
              <a:path w="2807744" h="2562448">
                <a:moveTo>
                  <a:pt x="0" y="0"/>
                </a:moveTo>
                <a:lnTo>
                  <a:pt x="2807744" y="0"/>
                </a:lnTo>
                <a:lnTo>
                  <a:pt x="2807744" y="2562447"/>
                </a:lnTo>
                <a:lnTo>
                  <a:pt x="0" y="25624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6" name="TextBox 6"/>
          <p:cNvSpPr txBox="1"/>
          <p:nvPr/>
        </p:nvSpPr>
        <p:spPr>
          <a:xfrm>
            <a:off x="4506121" y="828675"/>
            <a:ext cx="9275759" cy="1797375"/>
          </a:xfrm>
          <a:prstGeom prst="rect">
            <a:avLst/>
          </a:prstGeom>
        </p:spPr>
        <p:txBody>
          <a:bodyPr lIns="0" tIns="0" rIns="0" bIns="0" rtlCol="0" anchor="t">
            <a:spAutoFit/>
          </a:bodyPr>
          <a:lstStyle/>
          <a:p>
            <a:pPr marL="0" lvl="0" indent="0" algn="ctr">
              <a:lnSpc>
                <a:spcPts val="14753"/>
              </a:lnSpc>
            </a:pPr>
            <a:r>
              <a:rPr lang="en-US" sz="10537">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Introduction</a:t>
            </a:r>
          </a:p>
        </p:txBody>
      </p:sp>
      <p:sp>
        <p:nvSpPr>
          <p:cNvPr id="7" name="Freeform 7"/>
          <p:cNvSpPr/>
          <p:nvPr/>
        </p:nvSpPr>
        <p:spPr>
          <a:xfrm>
            <a:off x="108815" y="297302"/>
            <a:ext cx="3499170" cy="1826051"/>
          </a:xfrm>
          <a:custGeom>
            <a:avLst/>
            <a:gdLst/>
            <a:ahLst/>
            <a:cxnLst/>
            <a:rect l="l" t="t" r="r" b="b"/>
            <a:pathLst>
              <a:path w="3499170" h="1826051">
                <a:moveTo>
                  <a:pt x="0" y="0"/>
                </a:moveTo>
                <a:lnTo>
                  <a:pt x="3499170" y="0"/>
                </a:lnTo>
                <a:lnTo>
                  <a:pt x="3499170" y="1826050"/>
                </a:lnTo>
                <a:lnTo>
                  <a:pt x="0" y="182605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16337801" y="3959585"/>
            <a:ext cx="1907865" cy="1261159"/>
          </a:xfrm>
          <a:custGeom>
            <a:avLst/>
            <a:gdLst/>
            <a:ahLst/>
            <a:cxnLst/>
            <a:rect l="l" t="t" r="r" b="b"/>
            <a:pathLst>
              <a:path w="2798164" h="1261159">
                <a:moveTo>
                  <a:pt x="0" y="0"/>
                </a:moveTo>
                <a:lnTo>
                  <a:pt x="2798164" y="0"/>
                </a:lnTo>
                <a:lnTo>
                  <a:pt x="2798164" y="1261160"/>
                </a:lnTo>
                <a:lnTo>
                  <a:pt x="0" y="126116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a:off x="14071229" y="115674"/>
            <a:ext cx="4107956" cy="2543029"/>
          </a:xfrm>
          <a:custGeom>
            <a:avLst/>
            <a:gdLst/>
            <a:ahLst/>
            <a:cxnLst/>
            <a:rect l="l" t="t" r="r" b="b"/>
            <a:pathLst>
              <a:path w="5642277" h="2543029">
                <a:moveTo>
                  <a:pt x="0" y="0"/>
                </a:moveTo>
                <a:lnTo>
                  <a:pt x="5642277" y="0"/>
                </a:lnTo>
                <a:lnTo>
                  <a:pt x="5642277" y="2543028"/>
                </a:lnTo>
                <a:lnTo>
                  <a:pt x="0" y="2543028"/>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945118">
                <a:alpha val="100000"/>
              </a:srgbClr>
            </a:gs>
            <a:gs pos="100000">
              <a:srgbClr val="634A35">
                <a:alpha val="100000"/>
              </a:srgbClr>
            </a:gs>
          </a:gsLst>
          <a:lin ang="2700000"/>
        </a:gradFill>
        <a:effectLst/>
      </p:bgPr>
    </p:bg>
    <p:spTree>
      <p:nvGrpSpPr>
        <p:cNvPr id="1" name="">
          <a:extLst>
            <a:ext uri="{FF2B5EF4-FFF2-40B4-BE49-F238E27FC236}">
              <a16:creationId xmlns:a16="http://schemas.microsoft.com/office/drawing/2014/main" id="{60374251-9978-3B13-7E64-E85C750F98D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3687CA4-E8ED-F545-98A4-D7338737D521}"/>
              </a:ext>
            </a:extLst>
          </p:cNvPr>
          <p:cNvSpPr txBox="1"/>
          <p:nvPr/>
        </p:nvSpPr>
        <p:spPr>
          <a:xfrm>
            <a:off x="3762270" y="828675"/>
            <a:ext cx="10763460" cy="1765740"/>
          </a:xfrm>
          <a:prstGeom prst="rect">
            <a:avLst/>
          </a:prstGeom>
        </p:spPr>
        <p:txBody>
          <a:bodyPr lIns="0" tIns="0" rIns="0" bIns="0" rtlCol="0" anchor="t">
            <a:spAutoFit/>
          </a:bodyPr>
          <a:lstStyle/>
          <a:p>
            <a:pPr marL="0" lvl="0" indent="0" algn="ctr">
              <a:lnSpc>
                <a:spcPts val="14753"/>
              </a:lnSpc>
            </a:pPr>
            <a:r>
              <a:rPr lang="en-US" sz="9600" dirty="0">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Problem</a:t>
            </a:r>
            <a:r>
              <a:rPr lang="en-US" sz="10537" dirty="0">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 Statement</a:t>
            </a:r>
          </a:p>
        </p:txBody>
      </p:sp>
      <p:sp>
        <p:nvSpPr>
          <p:cNvPr id="3" name="Freeform 3">
            <a:extLst>
              <a:ext uri="{FF2B5EF4-FFF2-40B4-BE49-F238E27FC236}">
                <a16:creationId xmlns:a16="http://schemas.microsoft.com/office/drawing/2014/main" id="{E9162A54-8B4D-23C0-EB0D-8D33332A4741}"/>
              </a:ext>
            </a:extLst>
          </p:cNvPr>
          <p:cNvSpPr/>
          <p:nvPr/>
        </p:nvSpPr>
        <p:spPr>
          <a:xfrm>
            <a:off x="14525729" y="347842"/>
            <a:ext cx="3656243" cy="2562448"/>
          </a:xfrm>
          <a:custGeom>
            <a:avLst/>
            <a:gdLst/>
            <a:ahLst/>
            <a:cxnLst/>
            <a:rect l="l" t="t" r="r" b="b"/>
            <a:pathLst>
              <a:path w="5642277" h="2543029">
                <a:moveTo>
                  <a:pt x="0" y="0"/>
                </a:moveTo>
                <a:lnTo>
                  <a:pt x="5642277" y="0"/>
                </a:lnTo>
                <a:lnTo>
                  <a:pt x="5642277" y="2543029"/>
                </a:lnTo>
                <a:lnTo>
                  <a:pt x="0" y="254302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a:extLst>
              <a:ext uri="{FF2B5EF4-FFF2-40B4-BE49-F238E27FC236}">
                <a16:creationId xmlns:a16="http://schemas.microsoft.com/office/drawing/2014/main" id="{1E4C69CF-A78E-73B9-9862-72537FE08D50}"/>
              </a:ext>
            </a:extLst>
          </p:cNvPr>
          <p:cNvSpPr/>
          <p:nvPr/>
        </p:nvSpPr>
        <p:spPr>
          <a:xfrm>
            <a:off x="52402" y="8793787"/>
            <a:ext cx="2861370" cy="1493213"/>
          </a:xfrm>
          <a:custGeom>
            <a:avLst/>
            <a:gdLst/>
            <a:ahLst/>
            <a:cxnLst/>
            <a:rect l="l" t="t" r="r" b="b"/>
            <a:pathLst>
              <a:path w="2861370" h="1493213">
                <a:moveTo>
                  <a:pt x="0" y="0"/>
                </a:moveTo>
                <a:lnTo>
                  <a:pt x="2861369" y="0"/>
                </a:lnTo>
                <a:lnTo>
                  <a:pt x="2861369" y="1493213"/>
                </a:lnTo>
                <a:lnTo>
                  <a:pt x="0" y="149321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a:extLst>
              <a:ext uri="{FF2B5EF4-FFF2-40B4-BE49-F238E27FC236}">
                <a16:creationId xmlns:a16="http://schemas.microsoft.com/office/drawing/2014/main" id="{9607085C-320D-FF3F-8A72-342BC6F8183D}"/>
              </a:ext>
            </a:extLst>
          </p:cNvPr>
          <p:cNvSpPr/>
          <p:nvPr/>
        </p:nvSpPr>
        <p:spPr>
          <a:xfrm>
            <a:off x="106028" y="63602"/>
            <a:ext cx="2807744" cy="2562448"/>
          </a:xfrm>
          <a:custGeom>
            <a:avLst/>
            <a:gdLst/>
            <a:ahLst/>
            <a:cxnLst/>
            <a:rect l="l" t="t" r="r" b="b"/>
            <a:pathLst>
              <a:path w="2807744" h="2562448">
                <a:moveTo>
                  <a:pt x="0" y="0"/>
                </a:moveTo>
                <a:lnTo>
                  <a:pt x="2807744" y="0"/>
                </a:lnTo>
                <a:lnTo>
                  <a:pt x="2807744" y="2562448"/>
                </a:lnTo>
                <a:lnTo>
                  <a:pt x="0" y="256244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TextBox 11">
            <a:extLst>
              <a:ext uri="{FF2B5EF4-FFF2-40B4-BE49-F238E27FC236}">
                <a16:creationId xmlns:a16="http://schemas.microsoft.com/office/drawing/2014/main" id="{413D92EF-363B-3915-D142-B21B5725B783}"/>
              </a:ext>
            </a:extLst>
          </p:cNvPr>
          <p:cNvSpPr txBox="1"/>
          <p:nvPr/>
        </p:nvSpPr>
        <p:spPr>
          <a:xfrm>
            <a:off x="3866940" y="2910290"/>
            <a:ext cx="10763460" cy="5632311"/>
          </a:xfrm>
          <a:prstGeom prst="rect">
            <a:avLst/>
          </a:prstGeom>
          <a:noFill/>
        </p:spPr>
        <p:txBody>
          <a:bodyPr wrap="square" rtlCol="0">
            <a:spAutoFit/>
          </a:bodyPr>
          <a:lstStyle/>
          <a:p>
            <a:r>
              <a:rPr lang="en-IN" sz="4000" dirty="0">
                <a:solidFill>
                  <a:srgbClr val="FAD49A"/>
                </a:solidFill>
              </a:rPr>
              <a:t>Traditional methods of learning history often lack immersive and interactive experiences, while many modern solutions require expensive VR hardware or specialized software. </a:t>
            </a:r>
            <a:r>
              <a:rPr lang="en-IN" sz="4000" dirty="0" err="1">
                <a:solidFill>
                  <a:srgbClr val="FAD49A"/>
                </a:solidFill>
              </a:rPr>
              <a:t>Historica</a:t>
            </a:r>
            <a:r>
              <a:rPr lang="en-IN" sz="4000" dirty="0">
                <a:solidFill>
                  <a:srgbClr val="FAD49A"/>
                </a:solidFill>
              </a:rPr>
              <a:t> addresses this gap by providing a web-based platform with interactive 3D AR models of ancient landmarks, enabling users to explore historical sites realistically along with educational insights in an accessible and engaging way.</a:t>
            </a:r>
          </a:p>
        </p:txBody>
      </p:sp>
    </p:spTree>
    <p:extLst>
      <p:ext uri="{BB962C8B-B14F-4D97-AF65-F5344CB8AC3E}">
        <p14:creationId xmlns:p14="http://schemas.microsoft.com/office/powerpoint/2010/main" val="590113436"/>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945118">
                <a:alpha val="100000"/>
              </a:srgbClr>
            </a:gs>
            <a:gs pos="100000">
              <a:srgbClr val="634A35">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3762270" y="828675"/>
            <a:ext cx="10763460" cy="1797375"/>
          </a:xfrm>
          <a:prstGeom prst="rect">
            <a:avLst/>
          </a:prstGeom>
        </p:spPr>
        <p:txBody>
          <a:bodyPr lIns="0" tIns="0" rIns="0" bIns="0" rtlCol="0" anchor="t">
            <a:spAutoFit/>
          </a:bodyPr>
          <a:lstStyle/>
          <a:p>
            <a:pPr marL="0" lvl="0" indent="0" algn="ctr">
              <a:lnSpc>
                <a:spcPts val="14753"/>
              </a:lnSpc>
            </a:pPr>
            <a:r>
              <a:rPr lang="en-US" sz="10537" dirty="0">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Literature Review</a:t>
            </a:r>
          </a:p>
        </p:txBody>
      </p:sp>
      <p:sp>
        <p:nvSpPr>
          <p:cNvPr id="3" name="Freeform 3"/>
          <p:cNvSpPr/>
          <p:nvPr/>
        </p:nvSpPr>
        <p:spPr>
          <a:xfrm>
            <a:off x="14525729" y="347842"/>
            <a:ext cx="3656243" cy="2562448"/>
          </a:xfrm>
          <a:custGeom>
            <a:avLst/>
            <a:gdLst/>
            <a:ahLst/>
            <a:cxnLst/>
            <a:rect l="l" t="t" r="r" b="b"/>
            <a:pathLst>
              <a:path w="5642277" h="2543029">
                <a:moveTo>
                  <a:pt x="0" y="0"/>
                </a:moveTo>
                <a:lnTo>
                  <a:pt x="5642277" y="0"/>
                </a:lnTo>
                <a:lnTo>
                  <a:pt x="5642277" y="2543029"/>
                </a:lnTo>
                <a:lnTo>
                  <a:pt x="0" y="254302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125078" y="8730185"/>
            <a:ext cx="2861370" cy="1493213"/>
          </a:xfrm>
          <a:custGeom>
            <a:avLst/>
            <a:gdLst/>
            <a:ahLst/>
            <a:cxnLst/>
            <a:rect l="l" t="t" r="r" b="b"/>
            <a:pathLst>
              <a:path w="2861370" h="1493213">
                <a:moveTo>
                  <a:pt x="0" y="0"/>
                </a:moveTo>
                <a:lnTo>
                  <a:pt x="2861369" y="0"/>
                </a:lnTo>
                <a:lnTo>
                  <a:pt x="2861369" y="1493213"/>
                </a:lnTo>
                <a:lnTo>
                  <a:pt x="0" y="149321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a:off x="106028" y="63602"/>
            <a:ext cx="2807744" cy="2562448"/>
          </a:xfrm>
          <a:custGeom>
            <a:avLst/>
            <a:gdLst/>
            <a:ahLst/>
            <a:cxnLst/>
            <a:rect l="l" t="t" r="r" b="b"/>
            <a:pathLst>
              <a:path w="2807744" h="2562448">
                <a:moveTo>
                  <a:pt x="0" y="0"/>
                </a:moveTo>
                <a:lnTo>
                  <a:pt x="2807744" y="0"/>
                </a:lnTo>
                <a:lnTo>
                  <a:pt x="2807744" y="2562448"/>
                </a:lnTo>
                <a:lnTo>
                  <a:pt x="0" y="2562448"/>
                </a:lnTo>
                <a:lnTo>
                  <a:pt x="0" y="0"/>
                </a:lnTo>
                <a:close/>
              </a:path>
            </a:pathLst>
          </a:custGeom>
          <a:blipFill>
            <a:blip>
              <a:extLst>
                <a:ext uri="{96DAC541-7B7A-43D3-8B79-37D633B846F1}">
                  <asvg:svgBlip xmlns:asvg="http://schemas.microsoft.com/office/drawing/2016/SVG/main" r:embed="rId4"/>
                </a:ext>
              </a:extLst>
            </a:blip>
            <a:stretch>
              <a:fillRect/>
            </a:stretch>
          </a:blipFill>
        </p:spPr>
      </p:sp>
      <p:graphicFrame>
        <p:nvGraphicFramePr>
          <p:cNvPr id="13" name="Table 12">
            <a:extLst>
              <a:ext uri="{FF2B5EF4-FFF2-40B4-BE49-F238E27FC236}">
                <a16:creationId xmlns:a16="http://schemas.microsoft.com/office/drawing/2014/main" id="{70ABD5F9-41B7-68CA-BC6D-C5DED624F307}"/>
              </a:ext>
            </a:extLst>
          </p:cNvPr>
          <p:cNvGraphicFramePr>
            <a:graphicFrameLocks noGrp="1"/>
          </p:cNvGraphicFramePr>
          <p:nvPr>
            <p:extLst>
              <p:ext uri="{D42A27DB-BD31-4B8C-83A1-F6EECF244321}">
                <p14:modId xmlns:p14="http://schemas.microsoft.com/office/powerpoint/2010/main" val="1195569626"/>
              </p:ext>
            </p:extLst>
          </p:nvPr>
        </p:nvGraphicFramePr>
        <p:xfrm>
          <a:off x="2986448" y="3106883"/>
          <a:ext cx="12933361" cy="6310664"/>
        </p:xfrm>
        <a:graphic>
          <a:graphicData uri="http://schemas.openxmlformats.org/drawingml/2006/table">
            <a:tbl>
              <a:tblPr firstRow="1" bandRow="1"/>
              <a:tblGrid>
                <a:gridCol w="1541780">
                  <a:extLst>
                    <a:ext uri="{9D8B030D-6E8A-4147-A177-3AD203B41FA5}">
                      <a16:colId xmlns:a16="http://schemas.microsoft.com/office/drawing/2014/main" val="3061002685"/>
                    </a:ext>
                  </a:extLst>
                </a:gridCol>
                <a:gridCol w="4447019">
                  <a:extLst>
                    <a:ext uri="{9D8B030D-6E8A-4147-A177-3AD203B41FA5}">
                      <a16:colId xmlns:a16="http://schemas.microsoft.com/office/drawing/2014/main" val="3308928935"/>
                    </a:ext>
                  </a:extLst>
                </a:gridCol>
                <a:gridCol w="3728773">
                  <a:extLst>
                    <a:ext uri="{9D8B030D-6E8A-4147-A177-3AD203B41FA5}">
                      <a16:colId xmlns:a16="http://schemas.microsoft.com/office/drawing/2014/main" val="3184326738"/>
                    </a:ext>
                  </a:extLst>
                </a:gridCol>
                <a:gridCol w="3215789">
                  <a:extLst>
                    <a:ext uri="{9D8B030D-6E8A-4147-A177-3AD203B41FA5}">
                      <a16:colId xmlns:a16="http://schemas.microsoft.com/office/drawing/2014/main" val="3980447352"/>
                    </a:ext>
                  </a:extLst>
                </a:gridCol>
              </a:tblGrid>
              <a:tr h="920385">
                <a:tc>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IN" sz="3200" b="1" dirty="0">
                          <a:solidFill>
                            <a:srgbClr val="FAD49A"/>
                          </a:solidFill>
                        </a:rPr>
                        <a:t>Sr. No.</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05023"/>
                    </a:solidFill>
                  </a:tcPr>
                </a:tc>
                <a:tc>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IN" sz="3200" b="1" dirty="0">
                          <a:solidFill>
                            <a:srgbClr val="FAD49A"/>
                          </a:solidFill>
                        </a:rPr>
                        <a:t>Name of Solution/System</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05023"/>
                    </a:solidFill>
                  </a:tcPr>
                </a:tc>
                <a:tc>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IN" sz="3200" b="1" dirty="0">
                          <a:solidFill>
                            <a:srgbClr val="FAD49A"/>
                          </a:solidFill>
                        </a:rPr>
                        <a:t>Features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05023"/>
                    </a:solidFill>
                  </a:tcPr>
                </a:tc>
                <a:tc>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IN" sz="3200" b="1" dirty="0">
                          <a:solidFill>
                            <a:srgbClr val="FAD49A"/>
                          </a:solidFill>
                        </a:rPr>
                        <a:t>Limitations/</a:t>
                      </a:r>
                    </a:p>
                    <a:p>
                      <a:pPr algn="ctr"/>
                      <a:r>
                        <a:rPr lang="en-IN" sz="3200" b="1" dirty="0">
                          <a:solidFill>
                            <a:srgbClr val="FAD49A"/>
                          </a:solidFill>
                        </a:rPr>
                        <a:t>Drawbacks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905023"/>
                    </a:solidFill>
                  </a:tcPr>
                </a:tc>
                <a:extLst>
                  <a:ext uri="{0D108BD9-81ED-4DB2-BD59-A6C34878D82A}">
                    <a16:rowId xmlns:a16="http://schemas.microsoft.com/office/drawing/2014/main" val="4291405766"/>
                  </a:ext>
                </a:extLst>
              </a:tr>
              <a:tr h="1709287">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GB" sz="2800" dirty="0">
                          <a:solidFill>
                            <a:srgbClr val="FAD49A"/>
                          </a:solidFill>
                        </a:rPr>
                        <a:t>1.</a:t>
                      </a:r>
                      <a:endParaRPr lang="en-IN" sz="2800" dirty="0">
                        <a:solidFill>
                          <a:srgbClr val="FAD49A"/>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5023"/>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IN" sz="2800" dirty="0" err="1">
                          <a:solidFill>
                            <a:srgbClr val="FAD49A"/>
                          </a:solidFill>
                        </a:rPr>
                        <a:t>Sketchfab</a:t>
                      </a:r>
                      <a:r>
                        <a:rPr lang="en-IN" sz="2800" dirty="0">
                          <a:solidFill>
                            <a:srgbClr val="FAD49A"/>
                          </a:solidFill>
                        </a:rPr>
                        <a:t> (Cultural Heritage)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5023"/>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GB" sz="2800" dirty="0">
                          <a:solidFill>
                            <a:srgbClr val="FAD49A"/>
                          </a:solidFill>
                        </a:rPr>
                        <a:t>Allows users to explore 3D models of historical artifacts and sites</a:t>
                      </a:r>
                      <a:endParaRPr lang="en-IN" sz="2800" dirty="0">
                        <a:solidFill>
                          <a:srgbClr val="FAD49A"/>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5023"/>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GB" sz="2800" dirty="0">
                          <a:solidFill>
                            <a:srgbClr val="FAD49A"/>
                          </a:solidFill>
                        </a:rPr>
                        <a:t>No integrated historical storytelling or AR experience</a:t>
                      </a:r>
                      <a:endParaRPr lang="en-IN" sz="2800" dirty="0">
                        <a:solidFill>
                          <a:srgbClr val="FAD49A"/>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5023"/>
                    </a:solidFill>
                  </a:tcPr>
                </a:tc>
                <a:extLst>
                  <a:ext uri="{0D108BD9-81ED-4DB2-BD59-A6C34878D82A}">
                    <a16:rowId xmlns:a16="http://schemas.microsoft.com/office/drawing/2014/main" val="2750208946"/>
                  </a:ext>
                </a:extLst>
              </a:tr>
              <a:tr h="1530088">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GB" sz="2800" dirty="0">
                          <a:solidFill>
                            <a:srgbClr val="FAD49A"/>
                          </a:solidFill>
                        </a:rPr>
                        <a:t>2.</a:t>
                      </a:r>
                    </a:p>
                    <a:p>
                      <a:pPr algn="ctr"/>
                      <a:endParaRPr lang="en-GB" sz="2800" dirty="0">
                        <a:solidFill>
                          <a:srgbClr val="FAD49A"/>
                        </a:solidFill>
                      </a:endParaRPr>
                    </a:p>
                    <a:p>
                      <a:pPr algn="ctr"/>
                      <a:endParaRPr lang="en-GB" sz="2800" dirty="0">
                        <a:solidFill>
                          <a:srgbClr val="FAD49A"/>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5023"/>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IN" sz="2800" dirty="0" err="1">
                          <a:solidFill>
                            <a:srgbClr val="FAD49A"/>
                          </a:solidFill>
                        </a:rPr>
                        <a:t>HistoryView</a:t>
                      </a:r>
                      <a:r>
                        <a:rPr lang="en-IN" sz="2800" dirty="0">
                          <a:solidFill>
                            <a:srgbClr val="FAD49A"/>
                          </a:solidFill>
                        </a:rPr>
                        <a:t> VR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5023"/>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GB" sz="2800" dirty="0">
                          <a:solidFill>
                            <a:srgbClr val="FAD49A"/>
                          </a:solidFill>
                        </a:rPr>
                        <a:t>Provides virtual reality tours of historical places</a:t>
                      </a:r>
                      <a:endParaRPr lang="en-IN" sz="2800" dirty="0">
                        <a:solidFill>
                          <a:srgbClr val="FAD49A"/>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5023"/>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GB" sz="2800" dirty="0">
                          <a:solidFill>
                            <a:srgbClr val="FAD49A"/>
                          </a:solidFill>
                        </a:rPr>
                        <a:t>Limited 3D reconstructions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5023"/>
                    </a:solidFill>
                  </a:tcPr>
                </a:tc>
                <a:extLst>
                  <a:ext uri="{0D108BD9-81ED-4DB2-BD59-A6C34878D82A}">
                    <a16:rowId xmlns:a16="http://schemas.microsoft.com/office/drawing/2014/main" val="1395239330"/>
                  </a:ext>
                </a:extLst>
              </a:tr>
              <a:tr h="1915456">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GB" sz="2800" dirty="0">
                          <a:solidFill>
                            <a:srgbClr val="FAD49A"/>
                          </a:solidFill>
                        </a:rPr>
                        <a:t>3.</a:t>
                      </a:r>
                    </a:p>
                    <a:p>
                      <a:pPr algn="ctr"/>
                      <a:endParaRPr lang="en-GB" sz="2800" dirty="0">
                        <a:solidFill>
                          <a:srgbClr val="FAD49A"/>
                        </a:solidFill>
                      </a:endParaRPr>
                    </a:p>
                    <a:p>
                      <a:pPr algn="ctr"/>
                      <a:endParaRPr lang="en-GB" sz="2800" dirty="0">
                        <a:solidFill>
                          <a:srgbClr val="FAD49A"/>
                        </a:solidFill>
                      </a:endParaRPr>
                    </a:p>
                    <a:p>
                      <a:pPr algn="ctr"/>
                      <a:endParaRPr lang="en-GB" sz="2800" dirty="0">
                        <a:solidFill>
                          <a:srgbClr val="FAD49A"/>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5023"/>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IN" sz="2800" dirty="0">
                          <a:solidFill>
                            <a:srgbClr val="FAD49A"/>
                          </a:solidFill>
                        </a:rPr>
                        <a:t>National Geographic AR Experiences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5023"/>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IN" sz="2800" dirty="0">
                          <a:solidFill>
                            <a:srgbClr val="FAD49A"/>
                          </a:solidFill>
                        </a:rPr>
                        <a:t>Offers interactive 3D models of ancient structures via mobile devices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5023"/>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GB" sz="2800" dirty="0">
                          <a:solidFill>
                            <a:srgbClr val="FAD49A"/>
                          </a:solidFill>
                        </a:rPr>
                        <a:t>Not a full-fledged platform for historical site exploration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5023"/>
                    </a:solidFill>
                  </a:tcPr>
                </a:tc>
                <a:extLst>
                  <a:ext uri="{0D108BD9-81ED-4DB2-BD59-A6C34878D82A}">
                    <a16:rowId xmlns:a16="http://schemas.microsoft.com/office/drawing/2014/main" val="2850866531"/>
                  </a:ext>
                </a:extLst>
              </a:tr>
            </a:tbl>
          </a:graphicData>
        </a:graphic>
      </p:graphicFrame>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945118">
                <a:alpha val="100000"/>
              </a:srgbClr>
            </a:gs>
            <a:gs pos="100000">
              <a:srgbClr val="634A35">
                <a:alpha val="100000"/>
              </a:srgbClr>
            </a:gs>
          </a:gsLst>
          <a:lin ang="2700000"/>
        </a:gradFill>
        <a:effectLst/>
      </p:bgPr>
    </p:bg>
    <p:spTree>
      <p:nvGrpSpPr>
        <p:cNvPr id="1" name="">
          <a:extLst>
            <a:ext uri="{FF2B5EF4-FFF2-40B4-BE49-F238E27FC236}">
              <a16:creationId xmlns:a16="http://schemas.microsoft.com/office/drawing/2014/main" id="{402F729C-A117-C2B7-14BB-7D4FE218457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B955542-E4C4-33E9-DE20-2D1337981368}"/>
              </a:ext>
            </a:extLst>
          </p:cNvPr>
          <p:cNvSpPr txBox="1"/>
          <p:nvPr/>
        </p:nvSpPr>
        <p:spPr>
          <a:xfrm>
            <a:off x="3762270" y="828675"/>
            <a:ext cx="10763460" cy="1797375"/>
          </a:xfrm>
          <a:prstGeom prst="rect">
            <a:avLst/>
          </a:prstGeom>
        </p:spPr>
        <p:txBody>
          <a:bodyPr lIns="0" tIns="0" rIns="0" bIns="0" rtlCol="0" anchor="t">
            <a:spAutoFit/>
          </a:bodyPr>
          <a:lstStyle/>
          <a:p>
            <a:pPr marL="0" lvl="0" indent="0" algn="ctr">
              <a:lnSpc>
                <a:spcPts val="14753"/>
              </a:lnSpc>
            </a:pPr>
            <a:r>
              <a:rPr lang="en-US" sz="10537">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Core Technologies</a:t>
            </a:r>
          </a:p>
        </p:txBody>
      </p:sp>
      <p:sp>
        <p:nvSpPr>
          <p:cNvPr id="3" name="Freeform 3">
            <a:extLst>
              <a:ext uri="{FF2B5EF4-FFF2-40B4-BE49-F238E27FC236}">
                <a16:creationId xmlns:a16="http://schemas.microsoft.com/office/drawing/2014/main" id="{C9D40547-DCE1-2314-C5E0-CF48C82394D5}"/>
              </a:ext>
            </a:extLst>
          </p:cNvPr>
          <p:cNvSpPr/>
          <p:nvPr/>
        </p:nvSpPr>
        <p:spPr>
          <a:xfrm>
            <a:off x="14525729" y="347842"/>
            <a:ext cx="3656243" cy="2562448"/>
          </a:xfrm>
          <a:custGeom>
            <a:avLst/>
            <a:gdLst/>
            <a:ahLst/>
            <a:cxnLst/>
            <a:rect l="l" t="t" r="r" b="b"/>
            <a:pathLst>
              <a:path w="5642277" h="2543029">
                <a:moveTo>
                  <a:pt x="0" y="0"/>
                </a:moveTo>
                <a:lnTo>
                  <a:pt x="5642277" y="0"/>
                </a:lnTo>
                <a:lnTo>
                  <a:pt x="5642277" y="2543029"/>
                </a:lnTo>
                <a:lnTo>
                  <a:pt x="0" y="254302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a:extLst>
              <a:ext uri="{FF2B5EF4-FFF2-40B4-BE49-F238E27FC236}">
                <a16:creationId xmlns:a16="http://schemas.microsoft.com/office/drawing/2014/main" id="{AFD2CEEB-CA8A-42E3-61FE-0314888ABE5B}"/>
              </a:ext>
            </a:extLst>
          </p:cNvPr>
          <p:cNvSpPr txBox="1"/>
          <p:nvPr/>
        </p:nvSpPr>
        <p:spPr>
          <a:xfrm>
            <a:off x="1944171" y="5258100"/>
            <a:ext cx="3890597" cy="3443009"/>
          </a:xfrm>
          <a:prstGeom prst="rect">
            <a:avLst/>
          </a:prstGeom>
        </p:spPr>
        <p:txBody>
          <a:bodyPr lIns="0" tIns="0" rIns="0" bIns="0" rtlCol="0" anchor="t">
            <a:spAutoFit/>
          </a:bodyPr>
          <a:lstStyle/>
          <a:p>
            <a:pPr marL="0" lvl="0" indent="0">
              <a:lnSpc>
                <a:spcPts val="3427"/>
              </a:lnSpc>
            </a:pPr>
            <a:r>
              <a:rPr lang="en-US" sz="2448" dirty="0">
                <a:solidFill>
                  <a:srgbClr val="FFDAA0"/>
                </a:solidFill>
                <a:latin typeface="Poppins"/>
                <a:ea typeface="Poppins"/>
                <a:cs typeface="Poppins"/>
                <a:sym typeface="Poppins"/>
              </a:rPr>
              <a:t>Interactive 3D Visualization</a:t>
            </a:r>
          </a:p>
          <a:p>
            <a:pPr marL="0" lvl="0" indent="0">
              <a:lnSpc>
                <a:spcPts val="3427"/>
              </a:lnSpc>
            </a:pPr>
            <a:r>
              <a:rPr lang="en-US" sz="2448" dirty="0">
                <a:solidFill>
                  <a:srgbClr val="FFDAA0"/>
                </a:solidFill>
                <a:latin typeface="Poppins"/>
                <a:ea typeface="Poppins"/>
                <a:cs typeface="Poppins"/>
                <a:sym typeface="Poppins"/>
              </a:rPr>
              <a:t>Explore detailed 3D reconstructions of historical landmarks and ancient civilizations with full navigation control and immersive detail.</a:t>
            </a:r>
          </a:p>
        </p:txBody>
      </p:sp>
      <p:sp>
        <p:nvSpPr>
          <p:cNvPr id="5" name="Freeform 5">
            <a:extLst>
              <a:ext uri="{FF2B5EF4-FFF2-40B4-BE49-F238E27FC236}">
                <a16:creationId xmlns:a16="http://schemas.microsoft.com/office/drawing/2014/main" id="{ECA3C0E8-DDDE-0E2F-8810-1B4674A339C6}"/>
              </a:ext>
            </a:extLst>
          </p:cNvPr>
          <p:cNvSpPr/>
          <p:nvPr/>
        </p:nvSpPr>
        <p:spPr>
          <a:xfrm>
            <a:off x="8092434" y="3039090"/>
            <a:ext cx="2094561" cy="2231224"/>
          </a:xfrm>
          <a:custGeom>
            <a:avLst/>
            <a:gdLst/>
            <a:ahLst/>
            <a:cxnLst/>
            <a:rect l="l" t="t" r="r" b="b"/>
            <a:pathLst>
              <a:path w="2094561" h="2231224">
                <a:moveTo>
                  <a:pt x="0" y="0"/>
                </a:moveTo>
                <a:lnTo>
                  <a:pt x="2094561" y="0"/>
                </a:lnTo>
                <a:lnTo>
                  <a:pt x="2094561" y="2231224"/>
                </a:lnTo>
                <a:lnTo>
                  <a:pt x="0" y="2231224"/>
                </a:lnTo>
                <a:lnTo>
                  <a:pt x="0" y="0"/>
                </a:lnTo>
                <a:close/>
              </a:path>
            </a:pathLst>
          </a:custGeom>
          <a:blipFill>
            <a:blip r:embed="rId3"/>
            <a:stretch>
              <a:fillRect/>
            </a:stretch>
          </a:blipFill>
        </p:spPr>
      </p:sp>
      <p:sp>
        <p:nvSpPr>
          <p:cNvPr id="6" name="Freeform 6">
            <a:extLst>
              <a:ext uri="{FF2B5EF4-FFF2-40B4-BE49-F238E27FC236}">
                <a16:creationId xmlns:a16="http://schemas.microsoft.com/office/drawing/2014/main" id="{ACF4B34F-0AA6-87F6-D132-FCBC00F22661}"/>
              </a:ext>
            </a:extLst>
          </p:cNvPr>
          <p:cNvSpPr/>
          <p:nvPr/>
        </p:nvSpPr>
        <p:spPr>
          <a:xfrm>
            <a:off x="2896706" y="2847575"/>
            <a:ext cx="1984930" cy="2271642"/>
          </a:xfrm>
          <a:custGeom>
            <a:avLst/>
            <a:gdLst/>
            <a:ahLst/>
            <a:cxnLst/>
            <a:rect l="l" t="t" r="r" b="b"/>
            <a:pathLst>
              <a:path w="1984930" h="2271642">
                <a:moveTo>
                  <a:pt x="0" y="0"/>
                </a:moveTo>
                <a:lnTo>
                  <a:pt x="1984930" y="0"/>
                </a:lnTo>
                <a:lnTo>
                  <a:pt x="1984930" y="2271642"/>
                </a:lnTo>
                <a:lnTo>
                  <a:pt x="0" y="2271642"/>
                </a:lnTo>
                <a:lnTo>
                  <a:pt x="0" y="0"/>
                </a:lnTo>
                <a:close/>
              </a:path>
            </a:pathLst>
          </a:custGeom>
          <a:blipFill>
            <a:blip r:embed="rId4"/>
            <a:stretch>
              <a:fillRect/>
            </a:stretch>
          </a:blipFill>
        </p:spPr>
      </p:sp>
      <p:sp>
        <p:nvSpPr>
          <p:cNvPr id="7" name="Freeform 7">
            <a:extLst>
              <a:ext uri="{FF2B5EF4-FFF2-40B4-BE49-F238E27FC236}">
                <a16:creationId xmlns:a16="http://schemas.microsoft.com/office/drawing/2014/main" id="{75A7CD32-6CC0-EF4E-B7E4-091E1D6DA021}"/>
              </a:ext>
            </a:extLst>
          </p:cNvPr>
          <p:cNvSpPr/>
          <p:nvPr/>
        </p:nvSpPr>
        <p:spPr>
          <a:xfrm>
            <a:off x="13303733" y="3194530"/>
            <a:ext cx="2138510" cy="2031584"/>
          </a:xfrm>
          <a:custGeom>
            <a:avLst/>
            <a:gdLst/>
            <a:ahLst/>
            <a:cxnLst/>
            <a:rect l="l" t="t" r="r" b="b"/>
            <a:pathLst>
              <a:path w="2138510" h="2031584">
                <a:moveTo>
                  <a:pt x="0" y="0"/>
                </a:moveTo>
                <a:lnTo>
                  <a:pt x="2138509" y="0"/>
                </a:lnTo>
                <a:lnTo>
                  <a:pt x="2138509" y="2031585"/>
                </a:lnTo>
                <a:lnTo>
                  <a:pt x="0" y="2031585"/>
                </a:lnTo>
                <a:lnTo>
                  <a:pt x="0" y="0"/>
                </a:lnTo>
                <a:close/>
              </a:path>
            </a:pathLst>
          </a:custGeom>
          <a:blipFill>
            <a:blip r:embed="rId5"/>
            <a:stretch>
              <a:fillRect/>
            </a:stretch>
          </a:blipFill>
        </p:spPr>
      </p:sp>
      <p:sp>
        <p:nvSpPr>
          <p:cNvPr id="8" name="TextBox 8">
            <a:extLst>
              <a:ext uri="{FF2B5EF4-FFF2-40B4-BE49-F238E27FC236}">
                <a16:creationId xmlns:a16="http://schemas.microsoft.com/office/drawing/2014/main" id="{82B08086-0F8C-BC85-5A12-C4A0CC9B5942}"/>
              </a:ext>
            </a:extLst>
          </p:cNvPr>
          <p:cNvSpPr txBox="1"/>
          <p:nvPr/>
        </p:nvSpPr>
        <p:spPr>
          <a:xfrm>
            <a:off x="7198702" y="5258100"/>
            <a:ext cx="3890597" cy="3443009"/>
          </a:xfrm>
          <a:prstGeom prst="rect">
            <a:avLst/>
          </a:prstGeom>
        </p:spPr>
        <p:txBody>
          <a:bodyPr lIns="0" tIns="0" rIns="0" bIns="0" rtlCol="0" anchor="t">
            <a:spAutoFit/>
          </a:bodyPr>
          <a:lstStyle/>
          <a:p>
            <a:pPr marL="0" lvl="0" indent="0" algn="just">
              <a:lnSpc>
                <a:spcPts val="3427"/>
              </a:lnSpc>
            </a:pPr>
            <a:r>
              <a:rPr lang="en-US" sz="2448" dirty="0">
                <a:solidFill>
                  <a:srgbClr val="FFDAA0"/>
                </a:solidFill>
                <a:latin typeface="Poppins"/>
                <a:ea typeface="Poppins"/>
                <a:cs typeface="Poppins"/>
                <a:sym typeface="Poppins"/>
              </a:rPr>
              <a:t>Browser-based Augmented Reality</a:t>
            </a:r>
          </a:p>
          <a:p>
            <a:pPr marL="0" lvl="0" indent="0">
              <a:lnSpc>
                <a:spcPts val="3427"/>
              </a:lnSpc>
            </a:pPr>
            <a:r>
              <a:rPr lang="en-US" sz="2448" dirty="0">
                <a:solidFill>
                  <a:srgbClr val="FFDAA0"/>
                </a:solidFill>
                <a:latin typeface="Poppins"/>
                <a:ea typeface="Poppins"/>
                <a:cs typeface="Poppins"/>
                <a:sym typeface="Poppins"/>
              </a:rPr>
              <a:t>Experience history through AR directly in your browser—no app downloads required. Bring artifacts and monuments to life.</a:t>
            </a:r>
          </a:p>
        </p:txBody>
      </p:sp>
      <p:sp>
        <p:nvSpPr>
          <p:cNvPr id="9" name="TextBox 9">
            <a:extLst>
              <a:ext uri="{FF2B5EF4-FFF2-40B4-BE49-F238E27FC236}">
                <a16:creationId xmlns:a16="http://schemas.microsoft.com/office/drawing/2014/main" id="{6893A24B-3BC8-9560-CD04-7DC9B53B0FD0}"/>
              </a:ext>
            </a:extLst>
          </p:cNvPr>
          <p:cNvSpPr txBox="1"/>
          <p:nvPr/>
        </p:nvSpPr>
        <p:spPr>
          <a:xfrm>
            <a:off x="12451373" y="5258100"/>
            <a:ext cx="3890597" cy="3473323"/>
          </a:xfrm>
          <a:prstGeom prst="rect">
            <a:avLst/>
          </a:prstGeom>
        </p:spPr>
        <p:txBody>
          <a:bodyPr lIns="0" tIns="0" rIns="0" bIns="0" rtlCol="0" anchor="t">
            <a:spAutoFit/>
          </a:bodyPr>
          <a:lstStyle/>
          <a:p>
            <a:pPr marL="0" lvl="0" indent="0">
              <a:lnSpc>
                <a:spcPts val="3427"/>
              </a:lnSpc>
            </a:pPr>
            <a:r>
              <a:rPr lang="en-US" sz="2448" dirty="0">
                <a:solidFill>
                  <a:srgbClr val="FFDAA0"/>
                </a:solidFill>
                <a:latin typeface="Poppins"/>
                <a:ea typeface="Poppins"/>
                <a:cs typeface="Poppins"/>
                <a:sym typeface="Poppins"/>
              </a:rPr>
              <a:t>AI-powered Historical Simulations</a:t>
            </a:r>
          </a:p>
          <a:p>
            <a:pPr marL="0" lvl="0" indent="0">
              <a:lnSpc>
                <a:spcPts val="3427"/>
              </a:lnSpc>
            </a:pPr>
            <a:r>
              <a:rPr lang="en-US" sz="2448" dirty="0">
                <a:solidFill>
                  <a:srgbClr val="FFDAA0"/>
                </a:solidFill>
                <a:latin typeface="Poppins"/>
                <a:ea typeface="Poppins"/>
                <a:cs typeface="Poppins"/>
                <a:sym typeface="Poppins"/>
              </a:rPr>
              <a:t>Witness dynamic recreations of historical events powered by artificial intelligence, creating authentic and educational experiences.</a:t>
            </a:r>
          </a:p>
        </p:txBody>
      </p:sp>
      <p:sp>
        <p:nvSpPr>
          <p:cNvPr id="10" name="Freeform 10">
            <a:extLst>
              <a:ext uri="{FF2B5EF4-FFF2-40B4-BE49-F238E27FC236}">
                <a16:creationId xmlns:a16="http://schemas.microsoft.com/office/drawing/2014/main" id="{2A179773-FE4D-DFD6-CCF7-A0B0CDFE4645}"/>
              </a:ext>
            </a:extLst>
          </p:cNvPr>
          <p:cNvSpPr/>
          <p:nvPr/>
        </p:nvSpPr>
        <p:spPr>
          <a:xfrm>
            <a:off x="4404083" y="8701109"/>
            <a:ext cx="2861370" cy="1493213"/>
          </a:xfrm>
          <a:custGeom>
            <a:avLst/>
            <a:gdLst/>
            <a:ahLst/>
            <a:cxnLst/>
            <a:rect l="l" t="t" r="r" b="b"/>
            <a:pathLst>
              <a:path w="2861370" h="1493213">
                <a:moveTo>
                  <a:pt x="0" y="0"/>
                </a:moveTo>
                <a:lnTo>
                  <a:pt x="2861369" y="0"/>
                </a:lnTo>
                <a:lnTo>
                  <a:pt x="2861369" y="1493213"/>
                </a:lnTo>
                <a:lnTo>
                  <a:pt x="0" y="149321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Freeform 11">
            <a:extLst>
              <a:ext uri="{FF2B5EF4-FFF2-40B4-BE49-F238E27FC236}">
                <a16:creationId xmlns:a16="http://schemas.microsoft.com/office/drawing/2014/main" id="{CE72C260-41AA-755A-6BC2-C5437B870F59}"/>
              </a:ext>
            </a:extLst>
          </p:cNvPr>
          <p:cNvSpPr/>
          <p:nvPr/>
        </p:nvSpPr>
        <p:spPr>
          <a:xfrm>
            <a:off x="106028" y="63602"/>
            <a:ext cx="2807744" cy="2562448"/>
          </a:xfrm>
          <a:custGeom>
            <a:avLst/>
            <a:gdLst/>
            <a:ahLst/>
            <a:cxnLst/>
            <a:rect l="l" t="t" r="r" b="b"/>
            <a:pathLst>
              <a:path w="2807744" h="2562448">
                <a:moveTo>
                  <a:pt x="0" y="0"/>
                </a:moveTo>
                <a:lnTo>
                  <a:pt x="2807744" y="0"/>
                </a:lnTo>
                <a:lnTo>
                  <a:pt x="2807744" y="2562448"/>
                </a:lnTo>
                <a:lnTo>
                  <a:pt x="0" y="2562448"/>
                </a:lnTo>
                <a:lnTo>
                  <a:pt x="0" y="0"/>
                </a:lnTo>
                <a:close/>
              </a:path>
            </a:pathLst>
          </a:custGeom>
          <a:blipFill>
            <a:blip>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626771960"/>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945118">
                <a:alpha val="100000"/>
              </a:srgbClr>
            </a:gs>
            <a:gs pos="100000">
              <a:srgbClr val="634A35">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3762270" y="828675"/>
            <a:ext cx="10763460" cy="1797375"/>
          </a:xfrm>
          <a:prstGeom prst="rect">
            <a:avLst/>
          </a:prstGeom>
        </p:spPr>
        <p:txBody>
          <a:bodyPr lIns="0" tIns="0" rIns="0" bIns="0" rtlCol="0" anchor="t">
            <a:spAutoFit/>
          </a:bodyPr>
          <a:lstStyle/>
          <a:p>
            <a:pPr marL="0" lvl="0" indent="0" algn="ctr">
              <a:lnSpc>
                <a:spcPts val="14753"/>
              </a:lnSpc>
            </a:pPr>
            <a:r>
              <a:rPr lang="en-US" sz="10537">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Key Features</a:t>
            </a:r>
          </a:p>
        </p:txBody>
      </p:sp>
      <p:sp>
        <p:nvSpPr>
          <p:cNvPr id="3" name="Freeform 3"/>
          <p:cNvSpPr/>
          <p:nvPr/>
        </p:nvSpPr>
        <p:spPr>
          <a:xfrm>
            <a:off x="3074135" y="32398"/>
            <a:ext cx="3124200" cy="1916134"/>
          </a:xfrm>
          <a:custGeom>
            <a:avLst/>
            <a:gdLst/>
            <a:ahLst/>
            <a:cxnLst/>
            <a:rect l="l" t="t" r="r" b="b"/>
            <a:pathLst>
              <a:path w="5642277" h="2543029">
                <a:moveTo>
                  <a:pt x="0" y="0"/>
                </a:moveTo>
                <a:lnTo>
                  <a:pt x="5642277" y="0"/>
                </a:lnTo>
                <a:lnTo>
                  <a:pt x="5642277" y="2543028"/>
                </a:lnTo>
                <a:lnTo>
                  <a:pt x="0" y="254302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1558776">
            <a:off x="-750831" y="-1479774"/>
            <a:ext cx="4585063" cy="8229600"/>
          </a:xfrm>
          <a:custGeom>
            <a:avLst/>
            <a:gdLst/>
            <a:ahLst/>
            <a:cxnLst/>
            <a:rect l="l" t="t" r="r" b="b"/>
            <a:pathLst>
              <a:path w="4585063" h="8229600">
                <a:moveTo>
                  <a:pt x="0" y="0"/>
                </a:moveTo>
                <a:lnTo>
                  <a:pt x="4585063" y="0"/>
                </a:lnTo>
                <a:lnTo>
                  <a:pt x="4585063" y="8229600"/>
                </a:lnTo>
                <a:lnTo>
                  <a:pt x="0" y="8229600"/>
                </a:lnTo>
                <a:lnTo>
                  <a:pt x="0" y="0"/>
                </a:lnTo>
                <a:close/>
              </a:path>
            </a:pathLst>
          </a:custGeom>
          <a:blipFill>
            <a:blip r:embed="rId3"/>
            <a:stretch>
              <a:fillRect/>
            </a:stretch>
          </a:blipFill>
        </p:spPr>
      </p:sp>
      <p:sp>
        <p:nvSpPr>
          <p:cNvPr id="5" name="Freeform 5"/>
          <p:cNvSpPr/>
          <p:nvPr/>
        </p:nvSpPr>
        <p:spPr>
          <a:xfrm rot="-687988">
            <a:off x="1185770" y="881369"/>
            <a:ext cx="3166516" cy="7916289"/>
          </a:xfrm>
          <a:custGeom>
            <a:avLst/>
            <a:gdLst/>
            <a:ahLst/>
            <a:cxnLst/>
            <a:rect l="l" t="t" r="r" b="b"/>
            <a:pathLst>
              <a:path w="3166516" h="7916289">
                <a:moveTo>
                  <a:pt x="0" y="0"/>
                </a:moveTo>
                <a:lnTo>
                  <a:pt x="3166515" y="0"/>
                </a:lnTo>
                <a:lnTo>
                  <a:pt x="3166515" y="7916290"/>
                </a:lnTo>
                <a:lnTo>
                  <a:pt x="0" y="7916290"/>
                </a:lnTo>
                <a:lnTo>
                  <a:pt x="0" y="0"/>
                </a:lnTo>
                <a:close/>
              </a:path>
            </a:pathLst>
          </a:custGeom>
          <a:blipFill>
            <a:blip r:embed="rId4"/>
            <a:stretch>
              <a:fillRect/>
            </a:stretch>
          </a:blipFill>
        </p:spPr>
      </p:sp>
      <p:sp>
        <p:nvSpPr>
          <p:cNvPr id="6" name="Freeform 6"/>
          <p:cNvSpPr/>
          <p:nvPr/>
        </p:nvSpPr>
        <p:spPr>
          <a:xfrm>
            <a:off x="1374015" y="2635026"/>
            <a:ext cx="1793549" cy="935906"/>
          </a:xfrm>
          <a:custGeom>
            <a:avLst/>
            <a:gdLst/>
            <a:ahLst/>
            <a:cxnLst/>
            <a:rect l="l" t="t" r="r" b="b"/>
            <a:pathLst>
              <a:path w="1793549" h="935906">
                <a:moveTo>
                  <a:pt x="0" y="0"/>
                </a:moveTo>
                <a:lnTo>
                  <a:pt x="1793549" y="0"/>
                </a:lnTo>
                <a:lnTo>
                  <a:pt x="1793549" y="935906"/>
                </a:lnTo>
                <a:lnTo>
                  <a:pt x="0" y="935906"/>
                </a:lnTo>
                <a:lnTo>
                  <a:pt x="0" y="0"/>
                </a:lnTo>
                <a:close/>
              </a:path>
            </a:pathLst>
          </a:custGeom>
          <a:blipFill>
            <a:blip r:embed="rId5"/>
            <a:stretch>
              <a:fillRect/>
            </a:stretch>
          </a:blipFill>
        </p:spPr>
      </p:sp>
      <p:sp>
        <p:nvSpPr>
          <p:cNvPr id="7" name="TextBox 7"/>
          <p:cNvSpPr txBox="1"/>
          <p:nvPr/>
        </p:nvSpPr>
        <p:spPr>
          <a:xfrm>
            <a:off x="8601688" y="3187147"/>
            <a:ext cx="8427792" cy="1500555"/>
          </a:xfrm>
          <a:prstGeom prst="rect">
            <a:avLst/>
          </a:prstGeom>
        </p:spPr>
        <p:txBody>
          <a:bodyPr lIns="0" tIns="0" rIns="0" bIns="0" rtlCol="0" anchor="t">
            <a:spAutoFit/>
          </a:bodyPr>
          <a:lstStyle/>
          <a:p>
            <a:pPr marL="0" lvl="0" indent="0" algn="just">
              <a:lnSpc>
                <a:spcPts val="3917"/>
              </a:lnSpc>
            </a:pPr>
            <a:r>
              <a:rPr lang="en-US" sz="2798">
                <a:solidFill>
                  <a:srgbClr val="FFDAA0"/>
                </a:solidFill>
                <a:latin typeface="Poppins"/>
                <a:ea typeface="Poppins"/>
                <a:cs typeface="Poppins"/>
                <a:sym typeface="Poppins"/>
              </a:rPr>
              <a:t>Dynamic Historical Storytelling - Experience history through narrative-driven journeys that adapt to your interests and learning pace.</a:t>
            </a:r>
          </a:p>
        </p:txBody>
      </p:sp>
      <p:sp>
        <p:nvSpPr>
          <p:cNvPr id="8" name="TextBox 8"/>
          <p:cNvSpPr txBox="1"/>
          <p:nvPr/>
        </p:nvSpPr>
        <p:spPr>
          <a:xfrm>
            <a:off x="8601688" y="5162344"/>
            <a:ext cx="8427792" cy="1500555"/>
          </a:xfrm>
          <a:prstGeom prst="rect">
            <a:avLst/>
          </a:prstGeom>
        </p:spPr>
        <p:txBody>
          <a:bodyPr lIns="0" tIns="0" rIns="0" bIns="0" rtlCol="0" anchor="t">
            <a:spAutoFit/>
          </a:bodyPr>
          <a:lstStyle/>
          <a:p>
            <a:pPr marL="0" lvl="0" indent="0" algn="just">
              <a:lnSpc>
                <a:spcPts val="3917"/>
              </a:lnSpc>
            </a:pPr>
            <a:r>
              <a:rPr lang="en-US" sz="2798" dirty="0">
                <a:solidFill>
                  <a:srgbClr val="FFDAA0"/>
                </a:solidFill>
                <a:latin typeface="Poppins"/>
                <a:ea typeface="Poppins"/>
                <a:cs typeface="Poppins"/>
                <a:sym typeface="Poppins"/>
              </a:rPr>
              <a:t>Intelligent Virtual Avatars - Interact with AI-powered historical figures who guide you through ancient civilizations and events.</a:t>
            </a:r>
          </a:p>
        </p:txBody>
      </p:sp>
      <p:sp>
        <p:nvSpPr>
          <p:cNvPr id="9" name="TextBox 9"/>
          <p:cNvSpPr txBox="1"/>
          <p:nvPr/>
        </p:nvSpPr>
        <p:spPr>
          <a:xfrm>
            <a:off x="8601688" y="7139247"/>
            <a:ext cx="8427792" cy="1500555"/>
          </a:xfrm>
          <a:prstGeom prst="rect">
            <a:avLst/>
          </a:prstGeom>
        </p:spPr>
        <p:txBody>
          <a:bodyPr lIns="0" tIns="0" rIns="0" bIns="0" rtlCol="0" anchor="t">
            <a:spAutoFit/>
          </a:bodyPr>
          <a:lstStyle/>
          <a:p>
            <a:pPr marL="0" lvl="0" indent="0" algn="just">
              <a:lnSpc>
                <a:spcPts val="3917"/>
              </a:lnSpc>
            </a:pPr>
            <a:r>
              <a:rPr lang="en-US" sz="2798">
                <a:solidFill>
                  <a:srgbClr val="FFDAA0"/>
                </a:solidFill>
                <a:latin typeface="Poppins"/>
                <a:ea typeface="Poppins"/>
                <a:cs typeface="Poppins"/>
                <a:sym typeface="Poppins"/>
              </a:rPr>
              <a:t>Immersive Environment Exploration - Walk through fully reconstructed 3D historical sites and landmarks in stunning detail.</a:t>
            </a:r>
          </a:p>
        </p:txBody>
      </p:sp>
      <p:sp>
        <p:nvSpPr>
          <p:cNvPr id="10" name="Freeform 10"/>
          <p:cNvSpPr/>
          <p:nvPr/>
        </p:nvSpPr>
        <p:spPr>
          <a:xfrm>
            <a:off x="0" y="8953957"/>
            <a:ext cx="2507879" cy="1308743"/>
          </a:xfrm>
          <a:custGeom>
            <a:avLst/>
            <a:gdLst/>
            <a:ahLst/>
            <a:cxnLst/>
            <a:rect l="l" t="t" r="r" b="b"/>
            <a:pathLst>
              <a:path w="2507879" h="1308743">
                <a:moveTo>
                  <a:pt x="0" y="0"/>
                </a:moveTo>
                <a:lnTo>
                  <a:pt x="2507879" y="0"/>
                </a:lnTo>
                <a:lnTo>
                  <a:pt x="2507879" y="1308744"/>
                </a:lnTo>
                <a:lnTo>
                  <a:pt x="0" y="130874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11" name="Freeform 11"/>
          <p:cNvSpPr/>
          <p:nvPr/>
        </p:nvSpPr>
        <p:spPr>
          <a:xfrm>
            <a:off x="14173200" y="8324441"/>
            <a:ext cx="3940242" cy="1966792"/>
          </a:xfrm>
          <a:custGeom>
            <a:avLst/>
            <a:gdLst/>
            <a:ahLst/>
            <a:cxnLst/>
            <a:rect l="l" t="t" r="r" b="b"/>
            <a:pathLst>
              <a:path w="4325333" h="2257186">
                <a:moveTo>
                  <a:pt x="0" y="0"/>
                </a:moveTo>
                <a:lnTo>
                  <a:pt x="4325332" y="0"/>
                </a:lnTo>
                <a:lnTo>
                  <a:pt x="4325332" y="2257186"/>
                </a:lnTo>
                <a:lnTo>
                  <a:pt x="0" y="225718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2" name="Freeform 12"/>
          <p:cNvSpPr/>
          <p:nvPr/>
        </p:nvSpPr>
        <p:spPr>
          <a:xfrm>
            <a:off x="5074832" y="5528815"/>
            <a:ext cx="1530287" cy="689715"/>
          </a:xfrm>
          <a:custGeom>
            <a:avLst/>
            <a:gdLst/>
            <a:ahLst/>
            <a:cxnLst/>
            <a:rect l="l" t="t" r="r" b="b"/>
            <a:pathLst>
              <a:path w="1530287" h="689715">
                <a:moveTo>
                  <a:pt x="0" y="0"/>
                </a:moveTo>
                <a:lnTo>
                  <a:pt x="1530287" y="0"/>
                </a:lnTo>
                <a:lnTo>
                  <a:pt x="1530287" y="689715"/>
                </a:lnTo>
                <a:lnTo>
                  <a:pt x="0" y="68971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3" name="TextBox 13"/>
          <p:cNvSpPr txBox="1"/>
          <p:nvPr/>
        </p:nvSpPr>
        <p:spPr>
          <a:xfrm>
            <a:off x="7289126" y="2834094"/>
            <a:ext cx="1312562" cy="1797375"/>
          </a:xfrm>
          <a:prstGeom prst="rect">
            <a:avLst/>
          </a:prstGeom>
        </p:spPr>
        <p:txBody>
          <a:bodyPr lIns="0" tIns="0" rIns="0" bIns="0" rtlCol="0" anchor="t">
            <a:spAutoFit/>
          </a:bodyPr>
          <a:lstStyle/>
          <a:p>
            <a:pPr marL="0" lvl="0" indent="0" algn="ctr">
              <a:lnSpc>
                <a:spcPts val="14753"/>
              </a:lnSpc>
            </a:pPr>
            <a:r>
              <a:rPr lang="en-US" sz="10537">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1</a:t>
            </a:r>
          </a:p>
        </p:txBody>
      </p:sp>
      <p:sp>
        <p:nvSpPr>
          <p:cNvPr id="14" name="TextBox 14"/>
          <p:cNvSpPr txBox="1"/>
          <p:nvPr/>
        </p:nvSpPr>
        <p:spPr>
          <a:xfrm>
            <a:off x="7289126" y="4839514"/>
            <a:ext cx="1312562" cy="1797375"/>
          </a:xfrm>
          <a:prstGeom prst="rect">
            <a:avLst/>
          </a:prstGeom>
        </p:spPr>
        <p:txBody>
          <a:bodyPr lIns="0" tIns="0" rIns="0" bIns="0" rtlCol="0" anchor="t">
            <a:spAutoFit/>
          </a:bodyPr>
          <a:lstStyle/>
          <a:p>
            <a:pPr marL="0" lvl="0" indent="0" algn="ctr">
              <a:lnSpc>
                <a:spcPts val="14753"/>
              </a:lnSpc>
            </a:pPr>
            <a:r>
              <a:rPr lang="en-US" sz="10537">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2</a:t>
            </a:r>
          </a:p>
        </p:txBody>
      </p:sp>
      <p:sp>
        <p:nvSpPr>
          <p:cNvPr id="15" name="TextBox 15"/>
          <p:cNvSpPr txBox="1"/>
          <p:nvPr/>
        </p:nvSpPr>
        <p:spPr>
          <a:xfrm>
            <a:off x="7289126" y="6797577"/>
            <a:ext cx="1312562" cy="1797375"/>
          </a:xfrm>
          <a:prstGeom prst="rect">
            <a:avLst/>
          </a:prstGeom>
        </p:spPr>
        <p:txBody>
          <a:bodyPr lIns="0" tIns="0" rIns="0" bIns="0" rtlCol="0" anchor="t">
            <a:spAutoFit/>
          </a:bodyPr>
          <a:lstStyle/>
          <a:p>
            <a:pPr marL="0" lvl="0" indent="0" algn="ctr">
              <a:lnSpc>
                <a:spcPts val="14753"/>
              </a:lnSpc>
            </a:pPr>
            <a:r>
              <a:rPr lang="en-US" sz="10537">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3</a:t>
            </a: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945118">
                <a:alpha val="100000"/>
              </a:srgbClr>
            </a:gs>
            <a:gs pos="100000">
              <a:srgbClr val="634A35">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3762270" y="828675"/>
            <a:ext cx="10763460" cy="1797375"/>
          </a:xfrm>
          <a:prstGeom prst="rect">
            <a:avLst/>
          </a:prstGeom>
        </p:spPr>
        <p:txBody>
          <a:bodyPr lIns="0" tIns="0" rIns="0" bIns="0" rtlCol="0" anchor="t">
            <a:spAutoFit/>
          </a:bodyPr>
          <a:lstStyle/>
          <a:p>
            <a:pPr marL="0" lvl="0" indent="0" algn="ctr">
              <a:lnSpc>
                <a:spcPts val="14753"/>
              </a:lnSpc>
            </a:pPr>
            <a:r>
              <a:rPr lang="en-US" sz="10537">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Target Audience</a:t>
            </a:r>
          </a:p>
        </p:txBody>
      </p:sp>
      <p:sp>
        <p:nvSpPr>
          <p:cNvPr id="3" name="Freeform 3"/>
          <p:cNvSpPr/>
          <p:nvPr/>
        </p:nvSpPr>
        <p:spPr>
          <a:xfrm>
            <a:off x="12115800" y="8368952"/>
            <a:ext cx="3499170" cy="1826051"/>
          </a:xfrm>
          <a:custGeom>
            <a:avLst/>
            <a:gdLst/>
            <a:ahLst/>
            <a:cxnLst/>
            <a:rect l="l" t="t" r="r" b="b"/>
            <a:pathLst>
              <a:path w="3499170" h="1826051">
                <a:moveTo>
                  <a:pt x="0" y="0"/>
                </a:moveTo>
                <a:lnTo>
                  <a:pt x="3499170" y="0"/>
                </a:lnTo>
                <a:lnTo>
                  <a:pt x="3499170" y="1826051"/>
                </a:lnTo>
                <a:lnTo>
                  <a:pt x="0" y="182605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4500330" y="284349"/>
            <a:ext cx="3632607" cy="1797375"/>
          </a:xfrm>
          <a:custGeom>
            <a:avLst/>
            <a:gdLst/>
            <a:ahLst/>
            <a:cxnLst/>
            <a:rect l="l" t="t" r="r" b="b"/>
            <a:pathLst>
              <a:path w="5642277" h="2543029">
                <a:moveTo>
                  <a:pt x="0" y="0"/>
                </a:moveTo>
                <a:lnTo>
                  <a:pt x="5642277" y="0"/>
                </a:lnTo>
                <a:lnTo>
                  <a:pt x="5642277" y="2543029"/>
                </a:lnTo>
                <a:lnTo>
                  <a:pt x="0" y="25430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386210" y="7778635"/>
            <a:ext cx="8115300" cy="2508365"/>
          </a:xfrm>
          <a:custGeom>
            <a:avLst/>
            <a:gdLst/>
            <a:ahLst/>
            <a:cxnLst/>
            <a:rect l="l" t="t" r="r" b="b"/>
            <a:pathLst>
              <a:path w="8115300" h="2508365">
                <a:moveTo>
                  <a:pt x="0" y="0"/>
                </a:moveTo>
                <a:lnTo>
                  <a:pt x="8115300" y="0"/>
                </a:lnTo>
                <a:lnTo>
                  <a:pt x="8115300" y="2508365"/>
                </a:lnTo>
                <a:lnTo>
                  <a:pt x="0" y="2508365"/>
                </a:lnTo>
                <a:lnTo>
                  <a:pt x="0" y="0"/>
                </a:lnTo>
                <a:close/>
              </a:path>
            </a:pathLst>
          </a:custGeom>
          <a:blipFill>
            <a:blip r:embed="rId4"/>
            <a:stretch>
              <a:fillRect/>
            </a:stretch>
          </a:blipFill>
        </p:spPr>
      </p:sp>
      <p:sp>
        <p:nvSpPr>
          <p:cNvPr id="6" name="Freeform 6"/>
          <p:cNvSpPr/>
          <p:nvPr/>
        </p:nvSpPr>
        <p:spPr>
          <a:xfrm>
            <a:off x="1008192" y="2541913"/>
            <a:ext cx="6840805" cy="6918640"/>
          </a:xfrm>
          <a:custGeom>
            <a:avLst/>
            <a:gdLst/>
            <a:ahLst/>
            <a:cxnLst/>
            <a:rect l="l" t="t" r="r" b="b"/>
            <a:pathLst>
              <a:path w="6840805" h="6918640">
                <a:moveTo>
                  <a:pt x="0" y="0"/>
                </a:moveTo>
                <a:lnTo>
                  <a:pt x="6840805" y="0"/>
                </a:lnTo>
                <a:lnTo>
                  <a:pt x="6840805" y="6918640"/>
                </a:lnTo>
                <a:lnTo>
                  <a:pt x="0" y="6918640"/>
                </a:lnTo>
                <a:lnTo>
                  <a:pt x="0" y="0"/>
                </a:lnTo>
                <a:close/>
              </a:path>
            </a:pathLst>
          </a:custGeom>
          <a:blipFill>
            <a:blip r:embed="rId5"/>
            <a:stretch>
              <a:fillRect/>
            </a:stretch>
          </a:blipFill>
        </p:spPr>
      </p:sp>
      <p:sp>
        <p:nvSpPr>
          <p:cNvPr id="7" name="Freeform 7"/>
          <p:cNvSpPr/>
          <p:nvPr/>
        </p:nvSpPr>
        <p:spPr>
          <a:xfrm rot="-1558776">
            <a:off x="-750831" y="-1479774"/>
            <a:ext cx="4585063" cy="8229600"/>
          </a:xfrm>
          <a:custGeom>
            <a:avLst/>
            <a:gdLst/>
            <a:ahLst/>
            <a:cxnLst/>
            <a:rect l="l" t="t" r="r" b="b"/>
            <a:pathLst>
              <a:path w="4585063" h="8229600">
                <a:moveTo>
                  <a:pt x="0" y="0"/>
                </a:moveTo>
                <a:lnTo>
                  <a:pt x="4585063" y="0"/>
                </a:lnTo>
                <a:lnTo>
                  <a:pt x="4585063" y="8229600"/>
                </a:lnTo>
                <a:lnTo>
                  <a:pt x="0" y="8229600"/>
                </a:lnTo>
                <a:lnTo>
                  <a:pt x="0" y="0"/>
                </a:lnTo>
                <a:close/>
              </a:path>
            </a:pathLst>
          </a:custGeom>
          <a:blipFill>
            <a:blip r:embed="rId6"/>
            <a:stretch>
              <a:fillRect/>
            </a:stretch>
          </a:blipFill>
        </p:spPr>
      </p:sp>
      <p:sp>
        <p:nvSpPr>
          <p:cNvPr id="8" name="TextBox 8"/>
          <p:cNvSpPr txBox="1"/>
          <p:nvPr/>
        </p:nvSpPr>
        <p:spPr>
          <a:xfrm>
            <a:off x="8601688" y="3119576"/>
            <a:ext cx="8657612" cy="5142720"/>
          </a:xfrm>
          <a:prstGeom prst="rect">
            <a:avLst/>
          </a:prstGeom>
        </p:spPr>
        <p:txBody>
          <a:bodyPr lIns="0" tIns="0" rIns="0" bIns="0" rtlCol="0" anchor="t">
            <a:spAutoFit/>
          </a:bodyPr>
          <a:lstStyle/>
          <a:p>
            <a:pPr marL="0" lvl="0" indent="0" algn="just">
              <a:lnSpc>
                <a:spcPts val="3717"/>
              </a:lnSpc>
            </a:pPr>
            <a:r>
              <a:rPr lang="en-US" sz="2655">
                <a:solidFill>
                  <a:srgbClr val="FFDAA0"/>
                </a:solidFill>
                <a:latin typeface="Poppins"/>
                <a:ea typeface="Poppins"/>
                <a:cs typeface="Poppins"/>
                <a:sym typeface="Poppins"/>
              </a:rPr>
              <a:t>Historica enables students, researchers, educators, and history enthusiasts to visualize historical sites and experience ancient environments through modern digital technologies.</a:t>
            </a:r>
          </a:p>
          <a:p>
            <a:pPr marL="0" lvl="0" indent="0" algn="just">
              <a:lnSpc>
                <a:spcPts val="3717"/>
              </a:lnSpc>
            </a:pPr>
            <a:r>
              <a:rPr lang="en-US" sz="2655">
                <a:solidFill>
                  <a:srgbClr val="FFDAA0"/>
                </a:solidFill>
                <a:latin typeface="Poppins"/>
                <a:ea typeface="Poppins"/>
                <a:cs typeface="Poppins"/>
                <a:sym typeface="Poppins"/>
              </a:rPr>
              <a:t>Our platform serves:</a:t>
            </a:r>
          </a:p>
          <a:p>
            <a:pPr marL="0" lvl="0" indent="0" algn="just">
              <a:lnSpc>
                <a:spcPts val="3717"/>
              </a:lnSpc>
            </a:pPr>
            <a:r>
              <a:rPr lang="en-US" sz="2655">
                <a:solidFill>
                  <a:srgbClr val="FFDAA0"/>
                </a:solidFill>
                <a:latin typeface="Poppins"/>
                <a:ea typeface="Poppins"/>
                <a:cs typeface="Poppins"/>
                <a:sym typeface="Poppins"/>
              </a:rPr>
              <a:t>• Students seeking engaging ways to learn history</a:t>
            </a:r>
          </a:p>
          <a:p>
            <a:pPr marL="0" lvl="0" indent="0" algn="just">
              <a:lnSpc>
                <a:spcPts val="3717"/>
              </a:lnSpc>
            </a:pPr>
            <a:r>
              <a:rPr lang="en-US" sz="2655">
                <a:solidFill>
                  <a:srgbClr val="FFDAA0"/>
                </a:solidFill>
                <a:latin typeface="Poppins"/>
                <a:ea typeface="Poppins"/>
                <a:cs typeface="Poppins"/>
                <a:sym typeface="Poppins"/>
              </a:rPr>
              <a:t>• Researchers exploring historical reconstructions</a:t>
            </a:r>
          </a:p>
          <a:p>
            <a:pPr marL="0" lvl="0" indent="0" algn="just">
              <a:lnSpc>
                <a:spcPts val="3717"/>
              </a:lnSpc>
            </a:pPr>
            <a:r>
              <a:rPr lang="en-US" sz="2655">
                <a:solidFill>
                  <a:srgbClr val="FFDAA0"/>
                </a:solidFill>
                <a:latin typeface="Poppins"/>
                <a:ea typeface="Poppins"/>
                <a:cs typeface="Poppins"/>
                <a:sym typeface="Poppins"/>
              </a:rPr>
              <a:t>• Educators creating immersive lesson plans</a:t>
            </a:r>
          </a:p>
          <a:p>
            <a:pPr marL="0" lvl="0" indent="0" algn="just">
              <a:lnSpc>
                <a:spcPts val="3717"/>
              </a:lnSpc>
            </a:pPr>
            <a:r>
              <a:rPr lang="en-US" sz="2655">
                <a:solidFill>
                  <a:srgbClr val="FFDAA0"/>
                </a:solidFill>
                <a:latin typeface="Poppins"/>
                <a:ea typeface="Poppins"/>
                <a:cs typeface="Poppins"/>
                <a:sym typeface="Poppins"/>
              </a:rPr>
              <a:t>• History enthusiasts passionate about the past</a:t>
            </a:r>
          </a:p>
          <a:p>
            <a:pPr marL="0" lvl="0" indent="0" algn="just">
              <a:lnSpc>
                <a:spcPts val="3717"/>
              </a:lnSpc>
            </a:pPr>
            <a:r>
              <a:rPr lang="en-US" sz="2655">
                <a:solidFill>
                  <a:srgbClr val="FFDAA0"/>
                </a:solidFill>
                <a:latin typeface="Poppins"/>
                <a:ea typeface="Poppins"/>
                <a:cs typeface="Poppins"/>
                <a:sym typeface="Poppins"/>
              </a:rPr>
              <a:t>By bridging technology and heritage, Historica transforms passive learning into active exploration.</a:t>
            </a: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945118">
                <a:alpha val="100000"/>
              </a:srgbClr>
            </a:gs>
            <a:gs pos="100000">
              <a:srgbClr val="634A35">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rot="-1558776">
            <a:off x="-589902" y="-1315770"/>
            <a:ext cx="4585063" cy="8229600"/>
          </a:xfrm>
          <a:custGeom>
            <a:avLst/>
            <a:gdLst/>
            <a:ahLst/>
            <a:cxnLst/>
            <a:rect l="l" t="t" r="r" b="b"/>
            <a:pathLst>
              <a:path w="4585063" h="8229600">
                <a:moveTo>
                  <a:pt x="0" y="0"/>
                </a:moveTo>
                <a:lnTo>
                  <a:pt x="4585063" y="0"/>
                </a:lnTo>
                <a:lnTo>
                  <a:pt x="4585063" y="8229600"/>
                </a:lnTo>
                <a:lnTo>
                  <a:pt x="0" y="8229600"/>
                </a:lnTo>
                <a:lnTo>
                  <a:pt x="0" y="0"/>
                </a:lnTo>
                <a:close/>
              </a:path>
            </a:pathLst>
          </a:custGeom>
          <a:blipFill>
            <a:blip r:embed="rId2"/>
            <a:stretch>
              <a:fillRect/>
            </a:stretch>
          </a:blipFill>
        </p:spPr>
      </p:sp>
      <p:sp>
        <p:nvSpPr>
          <p:cNvPr id="3" name="Freeform 3"/>
          <p:cNvSpPr/>
          <p:nvPr/>
        </p:nvSpPr>
        <p:spPr>
          <a:xfrm>
            <a:off x="1282045" y="4056039"/>
            <a:ext cx="16914054" cy="6892477"/>
          </a:xfrm>
          <a:custGeom>
            <a:avLst/>
            <a:gdLst/>
            <a:ahLst/>
            <a:cxnLst/>
            <a:rect l="l" t="t" r="r" b="b"/>
            <a:pathLst>
              <a:path w="16914054" h="6892477">
                <a:moveTo>
                  <a:pt x="0" y="0"/>
                </a:moveTo>
                <a:lnTo>
                  <a:pt x="16914054" y="0"/>
                </a:lnTo>
                <a:lnTo>
                  <a:pt x="16914054" y="6892476"/>
                </a:lnTo>
                <a:lnTo>
                  <a:pt x="0" y="6892476"/>
                </a:lnTo>
                <a:lnTo>
                  <a:pt x="0" y="0"/>
                </a:lnTo>
                <a:close/>
              </a:path>
            </a:pathLst>
          </a:custGeom>
          <a:blipFill>
            <a:blip r:embed="rId3"/>
            <a:stretch>
              <a:fillRect/>
            </a:stretch>
          </a:blipFill>
        </p:spPr>
      </p:sp>
      <p:grpSp>
        <p:nvGrpSpPr>
          <p:cNvPr id="4" name="Group 4"/>
          <p:cNvGrpSpPr/>
          <p:nvPr/>
        </p:nvGrpSpPr>
        <p:grpSpPr>
          <a:xfrm>
            <a:off x="6076931" y="8323757"/>
            <a:ext cx="6134139" cy="934543"/>
            <a:chOff x="0" y="0"/>
            <a:chExt cx="1615576" cy="246135"/>
          </a:xfrm>
        </p:grpSpPr>
        <p:sp>
          <p:nvSpPr>
            <p:cNvPr id="5" name="Freeform 5"/>
            <p:cNvSpPr/>
            <p:nvPr/>
          </p:nvSpPr>
          <p:spPr>
            <a:xfrm>
              <a:off x="0" y="0"/>
              <a:ext cx="1615576" cy="246135"/>
            </a:xfrm>
            <a:custGeom>
              <a:avLst/>
              <a:gdLst/>
              <a:ahLst/>
              <a:cxnLst/>
              <a:rect l="l" t="t" r="r" b="b"/>
              <a:pathLst>
                <a:path w="1615576" h="246135">
                  <a:moveTo>
                    <a:pt x="64367" y="0"/>
                  </a:moveTo>
                  <a:lnTo>
                    <a:pt x="1551208" y="0"/>
                  </a:lnTo>
                  <a:cubicBezTo>
                    <a:pt x="1586758" y="0"/>
                    <a:pt x="1615576" y="28818"/>
                    <a:pt x="1615576" y="64367"/>
                  </a:cubicBezTo>
                  <a:lnTo>
                    <a:pt x="1615576" y="181768"/>
                  </a:lnTo>
                  <a:cubicBezTo>
                    <a:pt x="1615576" y="198839"/>
                    <a:pt x="1608794" y="215211"/>
                    <a:pt x="1596723" y="227282"/>
                  </a:cubicBezTo>
                  <a:cubicBezTo>
                    <a:pt x="1584652" y="239353"/>
                    <a:pt x="1568280" y="246135"/>
                    <a:pt x="1551208" y="246135"/>
                  </a:cubicBezTo>
                  <a:lnTo>
                    <a:pt x="64367" y="246135"/>
                  </a:lnTo>
                  <a:cubicBezTo>
                    <a:pt x="28818" y="246135"/>
                    <a:pt x="0" y="217317"/>
                    <a:pt x="0" y="181768"/>
                  </a:cubicBezTo>
                  <a:lnTo>
                    <a:pt x="0" y="64367"/>
                  </a:lnTo>
                  <a:cubicBezTo>
                    <a:pt x="0" y="28818"/>
                    <a:pt x="28818" y="0"/>
                    <a:pt x="64367" y="0"/>
                  </a:cubicBezTo>
                  <a:close/>
                </a:path>
              </a:pathLst>
            </a:custGeom>
            <a:gradFill rotWithShape="1">
              <a:gsLst>
                <a:gs pos="0">
                  <a:srgbClr val="FFDAA0">
                    <a:alpha val="100000"/>
                  </a:srgbClr>
                </a:gs>
                <a:gs pos="100000">
                  <a:srgbClr val="FBB03B">
                    <a:alpha val="100000"/>
                  </a:srgbClr>
                </a:gs>
              </a:gsLst>
              <a:lin ang="5400000"/>
            </a:gradFill>
          </p:spPr>
        </p:sp>
        <p:sp>
          <p:nvSpPr>
            <p:cNvPr id="6" name="TextBox 6"/>
            <p:cNvSpPr txBox="1"/>
            <p:nvPr/>
          </p:nvSpPr>
          <p:spPr>
            <a:xfrm>
              <a:off x="0" y="-38100"/>
              <a:ext cx="1615576" cy="2842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 name="TextBox 7"/>
          <p:cNvSpPr txBox="1"/>
          <p:nvPr/>
        </p:nvSpPr>
        <p:spPr>
          <a:xfrm>
            <a:off x="2061287" y="1239028"/>
            <a:ext cx="14735727" cy="3365858"/>
          </a:xfrm>
          <a:prstGeom prst="rect">
            <a:avLst/>
          </a:prstGeom>
        </p:spPr>
        <p:txBody>
          <a:bodyPr wrap="square" lIns="0" tIns="0" rIns="0" bIns="0" rtlCol="0" anchor="t">
            <a:spAutoFit/>
          </a:bodyPr>
          <a:lstStyle/>
          <a:p>
            <a:pPr marL="0" lvl="0" indent="0" algn="ctr">
              <a:lnSpc>
                <a:spcPts val="28169"/>
              </a:lnSpc>
            </a:pPr>
            <a:r>
              <a:rPr lang="en-US" sz="20120" dirty="0">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Thank You!</a:t>
            </a:r>
          </a:p>
        </p:txBody>
      </p:sp>
      <p:sp>
        <p:nvSpPr>
          <p:cNvPr id="8" name="TextBox 8"/>
          <p:cNvSpPr txBox="1"/>
          <p:nvPr/>
        </p:nvSpPr>
        <p:spPr>
          <a:xfrm>
            <a:off x="5859742" y="971550"/>
            <a:ext cx="6568517" cy="507766"/>
          </a:xfrm>
          <a:prstGeom prst="rect">
            <a:avLst/>
          </a:prstGeom>
        </p:spPr>
        <p:txBody>
          <a:bodyPr lIns="0" tIns="0" rIns="0" bIns="0" rtlCol="0" anchor="t">
            <a:spAutoFit/>
          </a:bodyPr>
          <a:lstStyle/>
          <a:p>
            <a:pPr marL="0" lvl="0" indent="0" algn="ctr">
              <a:lnSpc>
                <a:spcPts val="4151"/>
              </a:lnSpc>
            </a:pPr>
            <a:r>
              <a:rPr lang="en-US" sz="2965">
                <a:gradFill>
                  <a:gsLst>
                    <a:gs pos="0">
                      <a:srgbClr val="FFDAA0">
                        <a:alpha val="100000"/>
                      </a:srgbClr>
                    </a:gs>
                    <a:gs pos="100000">
                      <a:srgbClr val="FBB03B">
                        <a:alpha val="100000"/>
                      </a:srgbClr>
                    </a:gs>
                  </a:gsLst>
                  <a:lin ang="5400000"/>
                </a:gradFill>
                <a:latin typeface="Berkshire Swash"/>
                <a:ea typeface="Berkshire Swash"/>
                <a:cs typeface="Berkshire Swash"/>
                <a:sym typeface="Berkshire Swash"/>
              </a:rPr>
              <a:t>Preserving the Past, Inspiring the Future</a:t>
            </a:r>
          </a:p>
        </p:txBody>
      </p:sp>
      <p:sp>
        <p:nvSpPr>
          <p:cNvPr id="9" name="TextBox 9"/>
          <p:cNvSpPr txBox="1"/>
          <p:nvPr/>
        </p:nvSpPr>
        <p:spPr>
          <a:xfrm>
            <a:off x="6716890" y="8429421"/>
            <a:ext cx="4854221" cy="618551"/>
          </a:xfrm>
          <a:prstGeom prst="rect">
            <a:avLst/>
          </a:prstGeom>
        </p:spPr>
        <p:txBody>
          <a:bodyPr lIns="0" tIns="0" rIns="0" bIns="0" rtlCol="0" anchor="t">
            <a:spAutoFit/>
          </a:bodyPr>
          <a:lstStyle/>
          <a:p>
            <a:pPr marL="0" lvl="0" indent="0" algn="ctr">
              <a:lnSpc>
                <a:spcPts val="4756"/>
              </a:lnSpc>
            </a:pPr>
            <a:r>
              <a:rPr lang="en-US" sz="3397" b="1">
                <a:gradFill>
                  <a:gsLst>
                    <a:gs pos="0">
                      <a:srgbClr val="945118">
                        <a:alpha val="100000"/>
                      </a:srgbClr>
                    </a:gs>
                    <a:gs pos="100000">
                      <a:srgbClr val="634A35">
                        <a:alpha val="100000"/>
                      </a:srgbClr>
                    </a:gs>
                  </a:gsLst>
                  <a:lin ang="2700000"/>
                </a:gradFill>
                <a:latin typeface="Poppins Bold"/>
                <a:ea typeface="Poppins Bold"/>
                <a:cs typeface="Poppins Bold"/>
                <a:sym typeface="Poppins Bold"/>
              </a:rPr>
              <a:t>Team Historica</a:t>
            </a:r>
          </a:p>
        </p:txBody>
      </p:sp>
      <p:sp>
        <p:nvSpPr>
          <p:cNvPr id="10" name="Freeform 10"/>
          <p:cNvSpPr/>
          <p:nvPr/>
        </p:nvSpPr>
        <p:spPr>
          <a:xfrm>
            <a:off x="16933" y="3718890"/>
            <a:ext cx="2269067" cy="3100717"/>
          </a:xfrm>
          <a:custGeom>
            <a:avLst/>
            <a:gdLst/>
            <a:ahLst/>
            <a:cxnLst/>
            <a:rect l="l" t="t" r="r" b="b"/>
            <a:pathLst>
              <a:path w="4243959" h="2214721">
                <a:moveTo>
                  <a:pt x="0" y="0"/>
                </a:moveTo>
                <a:lnTo>
                  <a:pt x="4243958" y="0"/>
                </a:lnTo>
                <a:lnTo>
                  <a:pt x="4243958" y="2214721"/>
                </a:lnTo>
                <a:lnTo>
                  <a:pt x="0" y="221472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15656987" y="0"/>
            <a:ext cx="2778791" cy="1450119"/>
          </a:xfrm>
          <a:custGeom>
            <a:avLst/>
            <a:gdLst/>
            <a:ahLst/>
            <a:cxnLst/>
            <a:rect l="l" t="t" r="r" b="b"/>
            <a:pathLst>
              <a:path w="2778791" h="1450119">
                <a:moveTo>
                  <a:pt x="0" y="0"/>
                </a:moveTo>
                <a:lnTo>
                  <a:pt x="2778791" y="0"/>
                </a:lnTo>
                <a:lnTo>
                  <a:pt x="2778791" y="1450119"/>
                </a:lnTo>
                <a:lnTo>
                  <a:pt x="0" y="145011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13926740" y="4604886"/>
            <a:ext cx="4243959" cy="2214721"/>
          </a:xfrm>
          <a:custGeom>
            <a:avLst/>
            <a:gdLst/>
            <a:ahLst/>
            <a:cxnLst/>
            <a:rect l="l" t="t" r="r" b="b"/>
            <a:pathLst>
              <a:path w="4243959" h="2214721">
                <a:moveTo>
                  <a:pt x="0" y="0"/>
                </a:moveTo>
                <a:lnTo>
                  <a:pt x="4243958" y="0"/>
                </a:lnTo>
                <a:lnTo>
                  <a:pt x="4243958" y="2214720"/>
                </a:lnTo>
                <a:lnTo>
                  <a:pt x="0" y="2214720"/>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443</Words>
  <Application>Microsoft Macintosh PowerPoint</Application>
  <PresentationFormat>Custom</PresentationFormat>
  <Paragraphs>55</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Poppins</vt:lpstr>
      <vt:lpstr>Arial</vt:lpstr>
      <vt:lpstr>Berkshire Swash</vt:lpstr>
      <vt:lpstr>Aptos</vt:lpstr>
      <vt:lpstr>Calibri</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Text Magic Studio Magic Design for Presentations L&amp;P</dc:title>
  <cp:lastModifiedBy>Atharv  Sharma</cp:lastModifiedBy>
  <cp:revision>9</cp:revision>
  <dcterms:created xsi:type="dcterms:W3CDTF">2006-08-16T00:00:00Z</dcterms:created>
  <dcterms:modified xsi:type="dcterms:W3CDTF">2026-05-06T10:29:23Z</dcterms:modified>
  <dc:identifier>DAHI3N9aaP8</dc:identifier>
</cp:coreProperties>
</file>